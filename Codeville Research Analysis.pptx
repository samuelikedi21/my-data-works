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jpe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98" r:id="rId5"/>
    <p:sldId id="283" r:id="rId6"/>
    <p:sldId id="292" r:id="rId7"/>
    <p:sldId id="297" r:id="rId8"/>
    <p:sldId id="300" r:id="rId9"/>
    <p:sldId id="301" r:id="rId10"/>
    <p:sldId id="293" r:id="rId11"/>
    <p:sldId id="285" r:id="rId12"/>
    <p:sldId id="303" r:id="rId13"/>
    <p:sldId id="305" r:id="rId14"/>
    <p:sldId id="306" r:id="rId15"/>
    <p:sldId id="307" r:id="rId16"/>
    <p:sldId id="29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712" autoAdjust="0"/>
  </p:normalViewPr>
  <p:slideViewPr>
    <p:cSldViewPr snapToGrid="0">
      <p:cViewPr>
        <p:scale>
          <a:sx n="100" d="100"/>
          <a:sy n="100" d="100"/>
        </p:scale>
        <p:origin x="-533" y="-490"/>
      </p:cViewPr>
      <p:guideLst/>
    </p:cSldViewPr>
  </p:slideViewPr>
  <p:outlineViewPr>
    <p:cViewPr>
      <p:scale>
        <a:sx n="33" d="100"/>
        <a:sy n="33" d="100"/>
      </p:scale>
      <p:origin x="0" y="-942"/>
    </p:cViewPr>
  </p:outlineViewPr>
  <p:notesTextViewPr>
    <p:cViewPr>
      <p:scale>
        <a:sx n="3" d="2"/>
        <a:sy n="3" d="2"/>
      </p:scale>
      <p:origin x="0" y="0"/>
    </p:cViewPr>
  </p:notesTextViewPr>
  <p:sorterViewPr>
    <p:cViewPr>
      <p:scale>
        <a:sx n="75" d="100"/>
        <a:sy n="75" d="100"/>
      </p:scale>
      <p:origin x="0" y="0"/>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notesMaster" Target="notesMasters/notesMaster1.xml" /><Relationship Id="rId3" Type="http://schemas.openxmlformats.org/officeDocument/2006/relationships/customXml" Target="../customXml/item3.xml" /><Relationship Id="rId21" Type="http://schemas.openxmlformats.org/officeDocument/2006/relationships/viewProps" Target="viewProps.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presProps" Target="presProp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tableStyles" Target="tableStyles.xml" /><Relationship Id="rId10" Type="http://schemas.openxmlformats.org/officeDocument/2006/relationships/slide" Target="slides/slide6.xml" /><Relationship Id="rId19" Type="http://schemas.openxmlformats.org/officeDocument/2006/relationships/handoutMaster" Target="handoutMasters/handoutMaster1.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theme" Target="theme/theme1.xml" /></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2.xlsx" /><Relationship Id="rId2" Type="http://schemas.microsoft.com/office/2011/relationships/chartColorStyle" Target="colors1.xml" /><Relationship Id="rId1" Type="http://schemas.microsoft.com/office/2011/relationships/chartStyle" Target="style1.xml" /><Relationship Id="rId4" Type="http://schemas.openxmlformats.org/officeDocument/2006/relationships/chartUserShapes" Target="../drawings/drawing1.xml" /></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 /><Relationship Id="rId2" Type="http://schemas.microsoft.com/office/2011/relationships/chartColorStyle" Target="colors2.xml" /><Relationship Id="rId1" Type="http://schemas.microsoft.com/office/2011/relationships/chartStyle" Target="style2.xml" /></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3.xlsx" /><Relationship Id="rId2" Type="http://schemas.microsoft.com/office/2011/relationships/chartColorStyle" Target="colors3.xml" /><Relationship Id="rId1" Type="http://schemas.microsoft.com/office/2011/relationships/chartStyle" Target="style3.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75000"/>
                    <a:lumOff val="25000"/>
                  </a:schemeClr>
                </a:solidFill>
                <a:latin typeface="+mn-lt"/>
                <a:ea typeface="+mn-ea"/>
                <a:cs typeface="+mn-cs"/>
              </a:defRPr>
            </a:pPr>
            <a:r>
              <a:rPr lang="en-US" dirty="0">
                <a:solidFill>
                  <a:schemeClr val="tx1">
                    <a:lumMod val="75000"/>
                    <a:lumOff val="25000"/>
                  </a:schemeClr>
                </a:solidFill>
              </a:rPr>
              <a:t>Gross Revenue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75000"/>
                  <a:lumOff val="2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3"/>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1-3D1E-436F-B155-11D12081ECA9}"/>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3-3D1E-436F-B155-11D12081ECA9}"/>
              </c:ext>
            </c:extLst>
          </c:dPt>
          <c:dPt>
            <c:idx val="4"/>
            <c:invertIfNegative val="0"/>
            <c:bubble3D val="0"/>
            <c:spPr>
              <a:solidFill>
                <a:schemeClr val="accent4"/>
              </a:solidFill>
              <a:ln>
                <a:noFill/>
              </a:ln>
              <a:effectLst/>
            </c:spPr>
            <c:extLst>
              <c:ext xmlns:c16="http://schemas.microsoft.com/office/drawing/2014/chart" uri="{C3380CC4-5D6E-409C-BE32-E72D297353CC}">
                <c16:uniqueId val="{00000005-3D1E-436F-B155-11D12081ECA9}"/>
              </c:ext>
            </c:extLst>
          </c:dPt>
          <c:cat>
            <c:strRef>
              <c:f>Sheet1!$A$2:$A$6</c:f>
              <c:strCache>
                <c:ptCount val="5"/>
                <c:pt idx="0">
                  <c:v>20YY</c:v>
                </c:pt>
                <c:pt idx="1">
                  <c:v>20YY</c:v>
                </c:pt>
                <c:pt idx="2">
                  <c:v>20YY</c:v>
                </c:pt>
                <c:pt idx="3">
                  <c:v>20YY</c:v>
                </c:pt>
                <c:pt idx="4">
                  <c:v>20YY</c:v>
                </c:pt>
              </c:strCache>
            </c:strRef>
          </c:cat>
          <c:val>
            <c:numRef>
              <c:f>Sheet1!$B$2:$B$6</c:f>
              <c:numCache>
                <c:formatCode>[$$-409]#,##0</c:formatCode>
                <c:ptCount val="5"/>
                <c:pt idx="0">
                  <c:v>0</c:v>
                </c:pt>
                <c:pt idx="1">
                  <c:v>6750</c:v>
                </c:pt>
                <c:pt idx="2">
                  <c:v>33750</c:v>
                </c:pt>
                <c:pt idx="3">
                  <c:v>135000</c:v>
                </c:pt>
                <c:pt idx="4">
                  <c:v>270000</c:v>
                </c:pt>
              </c:numCache>
            </c:numRef>
          </c:val>
          <c:extLst>
            <c:ext xmlns:c16="http://schemas.microsoft.com/office/drawing/2014/chart" uri="{C3380CC4-5D6E-409C-BE32-E72D297353CC}">
              <c16:uniqueId val="{00000006-3D1E-436F-B155-11D12081ECA9}"/>
            </c:ext>
          </c:extLst>
        </c:ser>
        <c:dLbls>
          <c:showLegendKey val="0"/>
          <c:showVal val="0"/>
          <c:showCatName val="0"/>
          <c:showSerName val="0"/>
          <c:showPercent val="0"/>
          <c:showBubbleSize val="0"/>
        </c:dLbls>
        <c:gapWidth val="25"/>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000041744"/>
        <c:crosses val="autoZero"/>
        <c:auto val="1"/>
        <c:lblAlgn val="ctr"/>
        <c:lblOffset val="100"/>
        <c:noMultiLvlLbl val="0"/>
      </c:catAx>
      <c:valAx>
        <c:axId val="1000041744"/>
        <c:scaling>
          <c:orientation val="minMax"/>
        </c:scaling>
        <c:delete val="0"/>
        <c:axPos val="l"/>
        <c:majorGridlines>
          <c:spPr>
            <a:ln w="9525" cap="flat" cmpd="sng" algn="ctr">
              <a:solidFill>
                <a:schemeClr val="tx1">
                  <a:lumMod val="15000"/>
                  <a:lumOff val="85000"/>
                </a:schemeClr>
              </a:solidFill>
              <a:round/>
            </a:ln>
            <a:effectLst/>
          </c:spPr>
        </c:majorGridlines>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0000414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75000"/>
                    <a:lumOff val="25000"/>
                  </a:schemeClr>
                </a:solidFill>
                <a:latin typeface="+mn-lt"/>
                <a:ea typeface="+mn-ea"/>
                <a:cs typeface="+mn-cs"/>
              </a:defRPr>
            </a:pPr>
            <a:r>
              <a:rPr lang="en-US" dirty="0">
                <a:solidFill>
                  <a:schemeClr val="tx1">
                    <a:lumMod val="75000"/>
                    <a:lumOff val="25000"/>
                  </a:schemeClr>
                </a:solidFill>
              </a:rPr>
              <a:t>Company Sales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75000"/>
                  <a:lumOff val="2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Series 1</c:v>
                </c:pt>
              </c:strCache>
            </c:strRef>
          </c:tx>
          <c:spPr>
            <a:solidFill>
              <a:schemeClr val="accent3"/>
            </a:solidFill>
          </c:spPr>
          <c:dPt>
            <c:idx val="0"/>
            <c:bubble3D val="0"/>
            <c:spPr>
              <a:solidFill>
                <a:schemeClr val="accent3"/>
              </a:solidFill>
              <a:ln>
                <a:noFill/>
              </a:ln>
              <a:effectLst/>
            </c:spPr>
            <c:extLst>
              <c:ext xmlns:c16="http://schemas.microsoft.com/office/drawing/2014/chart" uri="{C3380CC4-5D6E-409C-BE32-E72D297353CC}">
                <c16:uniqueId val="{00000001-DA66-4D13-90A4-391C509065DF}"/>
              </c:ext>
            </c:extLst>
          </c:dPt>
          <c:dPt>
            <c:idx val="1"/>
            <c:bubble3D val="0"/>
            <c:spPr>
              <a:solidFill>
                <a:schemeClr val="accent2"/>
              </a:solidFill>
              <a:ln>
                <a:noFill/>
              </a:ln>
              <a:effectLst/>
            </c:spPr>
            <c:extLst>
              <c:ext xmlns:c16="http://schemas.microsoft.com/office/drawing/2014/chart" uri="{C3380CC4-5D6E-409C-BE32-E72D297353CC}">
                <c16:uniqueId val="{00000003-DA66-4D13-90A4-391C509065DF}"/>
              </c:ext>
            </c:extLst>
          </c:dPt>
          <c:dPt>
            <c:idx val="2"/>
            <c:bubble3D val="0"/>
            <c:spPr>
              <a:solidFill>
                <a:schemeClr val="accent3"/>
              </a:solidFill>
              <a:ln>
                <a:noFill/>
              </a:ln>
              <a:effectLst/>
            </c:spPr>
            <c:extLst>
              <c:ext xmlns:c16="http://schemas.microsoft.com/office/drawing/2014/chart" uri="{C3380CC4-5D6E-409C-BE32-E72D297353CC}">
                <c16:uniqueId val="{00000005-DA66-4D13-90A4-391C509065DF}"/>
              </c:ext>
            </c:extLst>
          </c:dPt>
          <c:dPt>
            <c:idx val="3"/>
            <c:bubble3D val="0"/>
            <c:spPr>
              <a:solidFill>
                <a:schemeClr val="accent1"/>
              </a:solidFill>
              <a:ln>
                <a:noFill/>
              </a:ln>
              <a:effectLst/>
            </c:spPr>
            <c:extLst>
              <c:ext xmlns:c16="http://schemas.microsoft.com/office/drawing/2014/chart" uri="{C3380CC4-5D6E-409C-BE32-E72D297353CC}">
                <c16:uniqueId val="{00000007-DA66-4D13-90A4-391C509065DF}"/>
              </c:ext>
            </c:extLst>
          </c:dPt>
          <c:dPt>
            <c:idx val="4"/>
            <c:bubble3D val="0"/>
            <c:spPr>
              <a:solidFill>
                <a:schemeClr val="accent4"/>
              </a:solidFill>
              <a:ln>
                <a:noFill/>
              </a:ln>
              <a:effectLst/>
            </c:spPr>
            <c:extLst>
              <c:ext xmlns:c16="http://schemas.microsoft.com/office/drawing/2014/chart" uri="{C3380CC4-5D6E-409C-BE32-E72D297353CC}">
                <c16:uniqueId val="{00000009-DA66-4D13-90A4-391C509065DF}"/>
              </c:ext>
            </c:extLst>
          </c:dPt>
          <c:dLbls>
            <c:dLbl>
              <c:idx val="0"/>
              <c:delete val="1"/>
              <c:extLst>
                <c:ext xmlns:c15="http://schemas.microsoft.com/office/drawing/2012/chart" uri="{CE6537A1-D6FC-4f65-9D91-7224C49458BB}"/>
                <c:ext xmlns:c16="http://schemas.microsoft.com/office/drawing/2014/chart" uri="{C3380CC4-5D6E-409C-BE32-E72D297353CC}">
                  <c16:uniqueId val="{00000001-DA66-4D13-90A4-391C509065DF}"/>
                </c:ext>
              </c:extLst>
            </c:dLbl>
            <c:dLbl>
              <c:idx val="1"/>
              <c:layout>
                <c:manualLayout>
                  <c:x val="-0.11615923344937455"/>
                  <c:y val="-0.14002523289348653"/>
                </c:manualLayout>
              </c:layout>
              <c:showLegendKey val="1"/>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A66-4D13-90A4-391C509065DF}"/>
                </c:ext>
              </c:extLst>
            </c:dLbl>
            <c:dLbl>
              <c:idx val="2"/>
              <c:layout>
                <c:manualLayout>
                  <c:x val="0.13864166572989867"/>
                  <c:y val="-0.15145586415009771"/>
                </c:manualLayout>
              </c:layout>
              <c:showLegendKey val="1"/>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A66-4D13-90A4-391C509065DF}"/>
                </c:ext>
              </c:extLst>
            </c:dLbl>
            <c:dLbl>
              <c:idx val="3"/>
              <c:layout>
                <c:manualLayout>
                  <c:x val="6.9525299079784011E-2"/>
                  <c:y val="0.28576578141527864"/>
                </c:manualLayout>
              </c:layout>
              <c:showLegendKey val="1"/>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A66-4D13-90A4-391C509065DF}"/>
                </c:ext>
              </c:extLst>
            </c:dLbl>
            <c:dLbl>
              <c:idx val="4"/>
              <c:layout>
                <c:manualLayout>
                  <c:x val="-8.1787666114047294E-2"/>
                  <c:y val="0.22861262513222283"/>
                </c:manualLayout>
              </c:layout>
              <c:showLegendKey val="1"/>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A66-4D13-90A4-391C509065D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showLeaderLines val="0"/>
            <c:extLst>
              <c:ext xmlns:c15="http://schemas.microsoft.com/office/drawing/2012/chart" uri="{CE6537A1-D6FC-4f65-9D91-7224C49458BB}"/>
            </c:extLst>
          </c:dLbls>
          <c:cat>
            <c:strRef>
              <c:f>Sheet1!$A$2:$A$6</c:f>
              <c:strCache>
                <c:ptCount val="5"/>
                <c:pt idx="0">
                  <c:v>20YY</c:v>
                </c:pt>
                <c:pt idx="1">
                  <c:v>20YY</c:v>
                </c:pt>
                <c:pt idx="2">
                  <c:v>20YY</c:v>
                </c:pt>
                <c:pt idx="3">
                  <c:v>20YY</c:v>
                </c:pt>
                <c:pt idx="4">
                  <c:v>20YY</c:v>
                </c:pt>
              </c:strCache>
            </c:strRef>
          </c:cat>
          <c:val>
            <c:numRef>
              <c:f>Sheet1!$B$2:$B$6</c:f>
              <c:numCache>
                <c:formatCode>[$$-409]#,##0</c:formatCode>
                <c:ptCount val="5"/>
                <c:pt idx="0">
                  <c:v>0</c:v>
                </c:pt>
                <c:pt idx="1">
                  <c:v>6750</c:v>
                </c:pt>
                <c:pt idx="2">
                  <c:v>33750</c:v>
                </c:pt>
                <c:pt idx="3">
                  <c:v>135000</c:v>
                </c:pt>
                <c:pt idx="4">
                  <c:v>270000</c:v>
                </c:pt>
              </c:numCache>
            </c:numRef>
          </c:val>
          <c:extLst>
            <c:ext xmlns:c16="http://schemas.microsoft.com/office/drawing/2014/chart" uri="{C3380CC4-5D6E-409C-BE32-E72D297353CC}">
              <c16:uniqueId val="{0000000A-DA66-4D13-90A4-391C509065DF}"/>
            </c:ext>
          </c:extLst>
        </c:ser>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75000"/>
                    <a:lumOff val="25000"/>
                  </a:schemeClr>
                </a:solidFill>
                <a:latin typeface="+mn-lt"/>
                <a:ea typeface="+mn-ea"/>
                <a:cs typeface="+mn-cs"/>
              </a:defRPr>
            </a:pPr>
            <a:r>
              <a:rPr lang="en-US" dirty="0">
                <a:solidFill>
                  <a:schemeClr val="tx1">
                    <a:lumMod val="75000"/>
                    <a:lumOff val="25000"/>
                  </a:schemeClr>
                </a:solidFill>
              </a:rPr>
              <a:t>Revenue</a:t>
            </a:r>
            <a:r>
              <a:rPr lang="en-US" baseline="0" dirty="0">
                <a:solidFill>
                  <a:schemeClr val="tx1">
                    <a:lumMod val="75000"/>
                    <a:lumOff val="25000"/>
                  </a:schemeClr>
                </a:solidFill>
              </a:rPr>
              <a:t> Over Time</a:t>
            </a:r>
            <a:endParaRPr lang="en-US" dirty="0">
              <a:solidFill>
                <a:schemeClr val="tx1">
                  <a:lumMod val="75000"/>
                  <a:lumOff val="25000"/>
                </a:schemeClr>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75000"/>
                  <a:lumOff val="25000"/>
                </a:schemeClr>
              </a:solidFill>
              <a:latin typeface="+mn-lt"/>
              <a:ea typeface="+mn-ea"/>
              <a:cs typeface="+mn-cs"/>
            </a:defRPr>
          </a:pPr>
          <a:endParaRPr lang="en-US"/>
        </a:p>
      </c:txPr>
    </c:title>
    <c:autoTitleDeleted val="0"/>
    <c:plotArea>
      <c:layout/>
      <c:lineChart>
        <c:grouping val="stacked"/>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Pt>
            <c:idx val="1"/>
            <c:marker>
              <c:symbol val="circle"/>
              <c:size val="5"/>
              <c:spPr>
                <a:solidFill>
                  <a:schemeClr val="accent1"/>
                </a:solidFill>
                <a:ln w="9525">
                  <a:solidFill>
                    <a:schemeClr val="accent1"/>
                  </a:solidFill>
                </a:ln>
                <a:effectLst/>
              </c:spPr>
            </c:marker>
            <c:bubble3D val="0"/>
            <c:spPr>
              <a:ln w="28575" cap="rnd">
                <a:solidFill>
                  <a:schemeClr val="accent1"/>
                </a:solidFill>
                <a:round/>
              </a:ln>
              <a:effectLst/>
            </c:spPr>
            <c:extLst>
              <c:ext xmlns:c16="http://schemas.microsoft.com/office/drawing/2014/chart" uri="{C3380CC4-5D6E-409C-BE32-E72D297353CC}">
                <c16:uniqueId val="{00000001-B30D-47FC-97C2-FA87298C22F3}"/>
              </c:ext>
            </c:extLst>
          </c:dPt>
          <c:dPt>
            <c:idx val="3"/>
            <c:marker>
              <c:symbol val="circle"/>
              <c:size val="5"/>
              <c:spPr>
                <a:solidFill>
                  <a:schemeClr val="accent1"/>
                </a:solidFill>
                <a:ln w="9525">
                  <a:solidFill>
                    <a:schemeClr val="accent1"/>
                  </a:solidFill>
                </a:ln>
                <a:effectLst/>
              </c:spPr>
            </c:marker>
            <c:bubble3D val="0"/>
            <c:spPr>
              <a:ln w="28575" cap="rnd">
                <a:solidFill>
                  <a:schemeClr val="accent1"/>
                </a:solidFill>
                <a:round/>
              </a:ln>
              <a:effectLst/>
            </c:spPr>
            <c:extLst>
              <c:ext xmlns:c16="http://schemas.microsoft.com/office/drawing/2014/chart" uri="{C3380CC4-5D6E-409C-BE32-E72D297353CC}">
                <c16:uniqueId val="{00000003-B30D-47FC-97C2-FA87298C22F3}"/>
              </c:ext>
            </c:extLst>
          </c:dPt>
          <c:dPt>
            <c:idx val="4"/>
            <c:marker>
              <c:symbol val="circle"/>
              <c:size val="5"/>
              <c:spPr>
                <a:solidFill>
                  <a:schemeClr val="accent1"/>
                </a:solidFill>
                <a:ln w="9525">
                  <a:solidFill>
                    <a:schemeClr val="accent1"/>
                  </a:solidFill>
                </a:ln>
                <a:effectLst/>
              </c:spPr>
            </c:marker>
            <c:bubble3D val="0"/>
            <c:spPr>
              <a:ln w="28575" cap="rnd">
                <a:solidFill>
                  <a:schemeClr val="accent1"/>
                </a:solidFill>
                <a:round/>
              </a:ln>
              <a:effectLst/>
            </c:spPr>
            <c:extLst>
              <c:ext xmlns:c16="http://schemas.microsoft.com/office/drawing/2014/chart" uri="{C3380CC4-5D6E-409C-BE32-E72D297353CC}">
                <c16:uniqueId val="{00000005-B30D-47FC-97C2-FA87298C22F3}"/>
              </c:ext>
            </c:extLst>
          </c:dPt>
          <c:cat>
            <c:strRef>
              <c:f>Sheet1!$A$2:$A$6</c:f>
              <c:strCache>
                <c:ptCount val="5"/>
                <c:pt idx="0">
                  <c:v>20YY</c:v>
                </c:pt>
                <c:pt idx="1">
                  <c:v>20YY</c:v>
                </c:pt>
                <c:pt idx="2">
                  <c:v>20YY</c:v>
                </c:pt>
                <c:pt idx="3">
                  <c:v>20YY</c:v>
                </c:pt>
                <c:pt idx="4">
                  <c:v>20YY</c:v>
                </c:pt>
              </c:strCache>
            </c:strRef>
          </c:cat>
          <c:val>
            <c:numRef>
              <c:f>Sheet1!$B$2:$B$6</c:f>
              <c:numCache>
                <c:formatCode>[$$-409]#,##0</c:formatCode>
                <c:ptCount val="5"/>
                <c:pt idx="0">
                  <c:v>0</c:v>
                </c:pt>
                <c:pt idx="1">
                  <c:v>6750</c:v>
                </c:pt>
                <c:pt idx="2">
                  <c:v>33750</c:v>
                </c:pt>
                <c:pt idx="3">
                  <c:v>135000</c:v>
                </c:pt>
                <c:pt idx="4">
                  <c:v>270000</c:v>
                </c:pt>
              </c:numCache>
            </c:numRef>
          </c:val>
          <c:smooth val="0"/>
          <c:extLst>
            <c:ext xmlns:c16="http://schemas.microsoft.com/office/drawing/2014/chart" uri="{C3380CC4-5D6E-409C-BE32-E72D297353CC}">
              <c16:uniqueId val="{00000006-B30D-47FC-97C2-FA87298C22F3}"/>
            </c:ext>
          </c:extLst>
        </c:ser>
        <c:dLbls>
          <c:showLegendKey val="0"/>
          <c:showVal val="0"/>
          <c:showCatName val="0"/>
          <c:showSerName val="0"/>
          <c:showPercent val="0"/>
          <c:showBubbleSize val="0"/>
        </c:dLbls>
        <c:marker val="1"/>
        <c:smooth val="0"/>
        <c:axId val="1000041416"/>
        <c:axId val="1000041744"/>
      </c:line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000041744"/>
        <c:crosses val="autoZero"/>
        <c:auto val="1"/>
        <c:lblAlgn val="ctr"/>
        <c:lblOffset val="100"/>
        <c:noMultiLvlLbl val="0"/>
      </c:catAx>
      <c:valAx>
        <c:axId val="1000041744"/>
        <c:scaling>
          <c:orientation val="minMax"/>
        </c:scaling>
        <c:delete val="0"/>
        <c:axPos val="l"/>
        <c:majorGridlines>
          <c:spPr>
            <a:ln w="9525" cap="flat" cmpd="sng" algn="ctr">
              <a:solidFill>
                <a:schemeClr val="tx1">
                  <a:lumMod val="15000"/>
                  <a:lumOff val="85000"/>
                </a:schemeClr>
              </a:solidFill>
              <a:round/>
            </a:ln>
            <a:effectLst/>
          </c:spPr>
        </c:majorGridlines>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0000414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cdr:x>
      <cdr:y>0</cdr:y>
    </cdr:from>
    <cdr:to>
      <cdr:x>1</cdr:x>
      <cdr:y>1</cdr:y>
    </cdr:to>
    <cdr:sp macro="" textlink="">
      <cdr:nvSpPr>
        <cdr:cNvPr id="2" name="Rectangle 1">
          <a:extLst xmlns:a="http://schemas.openxmlformats.org/drawingml/2006/main">
            <a:ext uri="{FF2B5EF4-FFF2-40B4-BE49-F238E27FC236}">
              <a16:creationId xmlns:a16="http://schemas.microsoft.com/office/drawing/2014/main" id="{924ED877-E016-4736-BA15-B7E08914B5B3}"/>
            </a:ext>
          </a:extLst>
        </cdr:cNvPr>
        <cdr:cNvSpPr/>
      </cdr:nvSpPr>
      <cdr:spPr>
        <a:xfrm xmlns:a="http://schemas.openxmlformats.org/drawingml/2006/main">
          <a:off x="0" y="0"/>
          <a:ext cx="3389313" cy="4444199"/>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dirty="0"/>
        </a:p>
      </cdr:txBody>
    </cdr:sp>
  </cdr:relSizeAnchor>
  <cdr:relSizeAnchor xmlns:cdr="http://schemas.openxmlformats.org/drawingml/2006/chartDrawing">
    <cdr:from>
      <cdr:x>0</cdr:x>
      <cdr:y>0.01573</cdr:y>
    </cdr:from>
    <cdr:to>
      <cdr:x>1</cdr:x>
      <cdr:y>0.99541</cdr:y>
    </cdr:to>
    <cdr:sp macro="" textlink="">
      <cdr:nvSpPr>
        <cdr:cNvPr id="3" name="Rectangle 2">
          <a:extLst xmlns:a="http://schemas.openxmlformats.org/drawingml/2006/main">
            <a:ext uri="{FF2B5EF4-FFF2-40B4-BE49-F238E27FC236}">
              <a16:creationId xmlns:a16="http://schemas.microsoft.com/office/drawing/2014/main" id="{6A7CD3C2-FB35-40AE-A325-CA3A3223D0AF}"/>
            </a:ext>
          </a:extLst>
        </cdr:cNvPr>
        <cdr:cNvSpPr/>
      </cdr:nvSpPr>
      <cdr:spPr>
        <a:xfrm xmlns:a="http://schemas.openxmlformats.org/drawingml/2006/main">
          <a:off x="0" y="69912"/>
          <a:ext cx="3389313" cy="4353908"/>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dirty="0">
            <a:solidFill>
              <a:sysClr val="windowText" lastClr="000000"/>
            </a:solidFill>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8/3/2025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3" Type="http://schemas.openxmlformats.org/officeDocument/2006/relationships/chart" Target="../charts/chart2.xml" /><Relationship Id="rId2" Type="http://schemas.openxmlformats.org/officeDocument/2006/relationships/chart" Target="../charts/chart1.xml" /><Relationship Id="rId1" Type="http://schemas.openxmlformats.org/officeDocument/2006/relationships/slideMaster" Target="../slideMasters/slideMaster1.xml" /><Relationship Id="rId4" Type="http://schemas.openxmlformats.org/officeDocument/2006/relationships/chart" Target="../charts/chart3.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804025"/>
          </a:xfrm>
          <a:solidFill>
            <a:schemeClr val="bg1">
              <a:lumMod val="85000"/>
            </a:schemeClr>
          </a:solidFill>
        </p:spPr>
        <p:txBody>
          <a:bodyPr tIns="1728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a:t>Click to edit Master subtitle style</a:t>
            </a:r>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Image Layout 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609600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7111800" y="3802899"/>
            <a:ext cx="4648200" cy="985000"/>
          </a:xfrm>
          <a:solidFill>
            <a:schemeClr val="bg1"/>
          </a:solidFill>
        </p:spPr>
        <p:txBody>
          <a:bodyPr lIns="180000" tIns="180000" rIns="180000" bIns="180000"/>
          <a:lstStyle>
            <a:lvl1pPr algn="r">
              <a:defRPr sz="6000" b="1" spc="-300">
                <a:solidFill>
                  <a:schemeClr val="tx1">
                    <a:lumMod val="75000"/>
                    <a:lumOff val="25000"/>
                  </a:schemeClr>
                </a:solidFill>
              </a:defRPr>
            </a:lvl1pPr>
          </a:lstStyle>
          <a:p>
            <a:r>
              <a:rPr lang="en-US" noProof="0"/>
              <a:t>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7111800" y="4787900"/>
            <a:ext cx="4648200" cy="1162800"/>
          </a:xfrm>
          <a:solidFill>
            <a:schemeClr val="tx1">
              <a:alpha val="80000"/>
            </a:schemeClr>
          </a:solidFill>
        </p:spPr>
        <p:txBody>
          <a:bodyPr lIns="180000" tIns="180000" rIns="180000" bIns="180000"/>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2668686"/>
            <a:ext cx="5472000" cy="2999426"/>
          </a:xfrm>
        </p:spPr>
        <p:txBody>
          <a:bodyPr anchor="b"/>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id="{1508F53F-6AA2-4060-904A-BC90211DC043}"/>
              </a:ext>
            </a:extLst>
          </p:cNvPr>
          <p:cNvSpPr/>
          <p:nvPr userDrawn="1"/>
        </p:nvSpPr>
        <p:spPr>
          <a:xfrm>
            <a:off x="9348588" y="3700775"/>
            <a:ext cx="2411412" cy="114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Image Layout 2">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5118100" y="1869795"/>
            <a:ext cx="6641900" cy="1124345"/>
          </a:xfrm>
          <a:solidFill>
            <a:schemeClr val="bg1">
              <a:lumMod val="95000"/>
            </a:schemeClr>
          </a:solidFill>
        </p:spPr>
        <p:txBody>
          <a:bodyPr lIns="180000" tIns="180000" rIns="180000" bIns="180000"/>
          <a:lstStyle>
            <a:lvl1pPr algn="l">
              <a:defRPr sz="6000" b="1" spc="-300">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5118334" y="2994141"/>
            <a:ext cx="6641626" cy="590155"/>
          </a:xfrm>
          <a:solidFill>
            <a:schemeClr val="tx1">
              <a:alpha val="80000"/>
            </a:schemeClr>
          </a:solidFill>
        </p:spPr>
        <p:txBody>
          <a:bodyPr lIns="180000" tIns="180000" rIns="180000" bIns="180000"/>
          <a:lstStyle>
            <a:lvl1pPr marL="0" indent="0" algn="l">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6288000" y="3763648"/>
            <a:ext cx="5472000" cy="2428351"/>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id="{FA5285E0-8F27-49C4-AADF-92A3B72D41FD}"/>
              </a:ext>
            </a:extLst>
          </p:cNvPr>
          <p:cNvSpPr/>
          <p:nvPr userDrawn="1"/>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384389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235700" y="2204792"/>
            <a:ext cx="5956300" cy="1944000"/>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section divider</a:t>
            </a:r>
          </a:p>
        </p:txBody>
      </p:sp>
      <p:sp>
        <p:nvSpPr>
          <p:cNvPr id="7" name="Subtitle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6235700" y="4148860"/>
            <a:ext cx="5956300" cy="1100565"/>
          </a:xfrm>
          <a:solidFill>
            <a:schemeClr val="tx1">
              <a:alpha val="80000"/>
            </a:schemeClr>
          </a:solidFill>
        </p:spPr>
        <p:txBody>
          <a:bodyPr lIns="180000" tIns="180000" rIns="252000" bIns="180000"/>
          <a:lstStyle>
            <a:lvl1pPr marL="0" indent="0" algn="r">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524778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437159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p:nvPr>
        </p:nvSpPr>
        <p:spPr>
          <a:xfrm>
            <a:off x="432000" y="2362553"/>
            <a:ext cx="5472000" cy="360000"/>
          </a:xfrm>
        </p:spPr>
        <p:txBody>
          <a:bodyPr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p:nvPr>
        </p:nvSpPr>
        <p:spPr>
          <a:xfrm>
            <a:off x="432000" y="2869901"/>
            <a:ext cx="5472000" cy="33769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mparison Left Placeholder 2">
            <a:extLst>
              <a:ext uri="{FF2B5EF4-FFF2-40B4-BE49-F238E27FC236}">
                <a16:creationId xmlns:a16="http://schemas.microsoft.com/office/drawing/2014/main" id="{78A963F8-6F6E-440E-B3B3-DDE13C083A36}"/>
              </a:ext>
            </a:extLst>
          </p:cNvPr>
          <p:cNvSpPr>
            <a:spLocks noGrp="1"/>
          </p:cNvSpPr>
          <p:nvPr>
            <p:ph type="body" sz="quarter" idx="13"/>
          </p:nvPr>
        </p:nvSpPr>
        <p:spPr>
          <a:xfrm>
            <a:off x="6300000" y="2363078"/>
            <a:ext cx="5472000" cy="358775"/>
          </a:xfrm>
        </p:spPr>
        <p:txBody>
          <a:bodyPr/>
          <a:lstStyle>
            <a:lvl1pPr marL="0" indent="0">
              <a:buNone/>
              <a:defRPr sz="2400" b="1"/>
            </a:lvl1pPr>
          </a:lstStyle>
          <a:p>
            <a:pPr lvl="0"/>
            <a:r>
              <a:rPr lang="en-US" noProof="0"/>
              <a:t>Click to edit Master text styles</a:t>
            </a:r>
          </a:p>
        </p:txBody>
      </p:sp>
      <p:sp>
        <p:nvSpPr>
          <p:cNvPr id="8" name="Text Placeholder 4">
            <a:extLst>
              <a:ext uri="{FF2B5EF4-FFF2-40B4-BE49-F238E27FC236}">
                <a16:creationId xmlns:a16="http://schemas.microsoft.com/office/drawing/2014/main" id="{DF0A5256-B267-47DA-858A-0F3867CB6139}"/>
              </a:ext>
            </a:extLst>
          </p:cNvPr>
          <p:cNvSpPr>
            <a:spLocks noGrp="1"/>
          </p:cNvSpPr>
          <p:nvPr>
            <p:ph type="body" sz="quarter" idx="12"/>
          </p:nvPr>
        </p:nvSpPr>
        <p:spPr>
          <a:xfrm>
            <a:off x="6299887" y="2867078"/>
            <a:ext cx="5472113" cy="337903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0" name="Rectangle 9" descr="Accent block left">
            <a:extLst>
              <a:ext uri="{FF2B5EF4-FFF2-40B4-BE49-F238E27FC236}">
                <a16:creationId xmlns:a16="http://schemas.microsoft.com/office/drawing/2014/main" id="{BBC0CAF5-0DE6-4BEA-824E-124A54A76AC6}"/>
              </a:ext>
              <a:ext uri="{C183D7F6-B498-43B3-948B-1728B52AA6E4}">
                <adec:decorative xmlns:adec="http://schemas.microsoft.com/office/drawing/2017/decorative" val="1"/>
              </a:ext>
            </a:extLst>
          </p:cNvPr>
          <p:cNvSpPr/>
          <p:nvPr userDrawn="1"/>
        </p:nvSpPr>
        <p:spPr>
          <a:xfrm>
            <a:off x="4318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1" name="Rectangle 10" descr="Accent bar right&#10;">
            <a:extLst>
              <a:ext uri="{FF2B5EF4-FFF2-40B4-BE49-F238E27FC236}">
                <a16:creationId xmlns:a16="http://schemas.microsoft.com/office/drawing/2014/main" id="{ED008080-B2F5-441A-8B15-30AE86BBF943}"/>
              </a:ext>
              <a:ext uri="{C183D7F6-B498-43B3-948B-1728B52AA6E4}">
                <adec:decorative xmlns:adec="http://schemas.microsoft.com/office/drawing/2017/decorative" val="1"/>
              </a:ext>
            </a:extLst>
          </p:cNvPr>
          <p:cNvSpPr/>
          <p:nvPr userDrawn="1"/>
        </p:nvSpPr>
        <p:spPr>
          <a:xfrm>
            <a:off x="6299887" y="2100317"/>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er Slide 2">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2411412"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3" name="Title 1">
            <a:extLst>
              <a:ext uri="{FF2B5EF4-FFF2-40B4-BE49-F238E27FC236}">
                <a16:creationId xmlns:a16="http://schemas.microsoft.com/office/drawing/2014/main" id="{E473AB13-DFF9-4538-9907-E261659E0E01}"/>
              </a:ext>
            </a:extLst>
          </p:cNvPr>
          <p:cNvSpPr>
            <a:spLocks noGrp="1"/>
          </p:cNvSpPr>
          <p:nvPr>
            <p:ph type="title" hasCustomPrompt="1"/>
          </p:nvPr>
        </p:nvSpPr>
        <p:spPr>
          <a:xfrm>
            <a:off x="-1700" y="2156226"/>
            <a:ext cx="5104052"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7" name="Subtitle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0" y="4110760"/>
            <a:ext cx="5102595" cy="1100565"/>
          </a:xfrm>
          <a:solidFill>
            <a:schemeClr val="tx1">
              <a:alpha val="80000"/>
            </a:schemeClr>
          </a:solidFill>
        </p:spPr>
        <p:txBody>
          <a:bodyPr lIns="252000" tIns="180000" rIns="180000" bIns="180000"/>
          <a:lstStyle>
            <a:lvl1pPr marL="0" indent="0" algn="l">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282858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3 content">
    <p:spTree>
      <p:nvGrpSpPr>
        <p:cNvPr id="1" name=""/>
        <p:cNvGrpSpPr/>
        <p:nvPr/>
      </p:nvGrpSpPr>
      <p:grpSpPr>
        <a:xfrm>
          <a:off x="0" y="0"/>
          <a:ext cx="0" cy="0"/>
          <a:chOff x="0" y="0"/>
          <a:chExt cx="0" cy="0"/>
        </a:xfrm>
      </p:grpSpPr>
      <p:sp>
        <p:nvSpPr>
          <p:cNvPr id="13" name="Content Placeholder 10">
            <a:extLst>
              <a:ext uri="{FF2B5EF4-FFF2-40B4-BE49-F238E27FC236}">
                <a16:creationId xmlns:a16="http://schemas.microsoft.com/office/drawing/2014/main" id="{454B80C6-ACBE-4877-BC36-02B9C42A2DA0}"/>
              </a:ext>
            </a:extLst>
          </p:cNvPr>
          <p:cNvSpPr>
            <a:spLocks noGrp="1"/>
          </p:cNvSpPr>
          <p:nvPr>
            <p:ph sz="quarter" idx="36"/>
          </p:nvPr>
        </p:nvSpPr>
        <p:spPr>
          <a:xfrm>
            <a:off x="8485569" y="1590675"/>
            <a:ext cx="3246121" cy="4365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0">
            <a:extLst>
              <a:ext uri="{FF2B5EF4-FFF2-40B4-BE49-F238E27FC236}">
                <a16:creationId xmlns:a16="http://schemas.microsoft.com/office/drawing/2014/main" id="{2D5A5AA1-9589-4EC6-B469-1EE7724E7DD3}"/>
              </a:ext>
            </a:extLst>
          </p:cNvPr>
          <p:cNvSpPr>
            <a:spLocks noGrp="1"/>
          </p:cNvSpPr>
          <p:nvPr>
            <p:ph sz="quarter" idx="35"/>
          </p:nvPr>
        </p:nvSpPr>
        <p:spPr>
          <a:xfrm>
            <a:off x="4508564" y="1590675"/>
            <a:ext cx="3246121" cy="4259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A9557FF2-93A3-48A1-AB68-35D6813B3A91}"/>
              </a:ext>
            </a:extLst>
          </p:cNvPr>
          <p:cNvSpPr>
            <a:spLocks noGrp="1"/>
          </p:cNvSpPr>
          <p:nvPr>
            <p:ph sz="quarter" idx="34"/>
          </p:nvPr>
        </p:nvSpPr>
        <p:spPr>
          <a:xfrm>
            <a:off x="502920" y="1590675"/>
            <a:ext cx="3246121" cy="4365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853CF994-8B2C-443F-B695-7378DD360DAA}"/>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341184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853CF994-8B2C-443F-B695-7378DD360DAA}"/>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7" name="Content Placeholder 6">
            <a:extLst>
              <a:ext uri="{FF2B5EF4-FFF2-40B4-BE49-F238E27FC236}">
                <a16:creationId xmlns:a16="http://schemas.microsoft.com/office/drawing/2014/main" id="{0D32884E-EBB5-47FA-9B0A-E32B264BC5A1}"/>
              </a:ext>
            </a:extLst>
          </p:cNvPr>
          <p:cNvSpPr>
            <a:spLocks noGrp="1"/>
          </p:cNvSpPr>
          <p:nvPr>
            <p:ph sz="quarter" idx="34"/>
          </p:nvPr>
        </p:nvSpPr>
        <p:spPr>
          <a:xfrm>
            <a:off x="512064" y="1655063"/>
            <a:ext cx="11248136" cy="4123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5855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12192000" cy="6371350"/>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7552944" y="5359400"/>
            <a:ext cx="4207056" cy="565899"/>
          </a:xfrm>
          <a:solidFill>
            <a:schemeClr val="tx1"/>
          </a:solidFill>
        </p:spPr>
        <p:txBody>
          <a:bodyPr lIns="180000" tIns="180000" rIns="180000" bIns="180000" anchor="ctr"/>
          <a:lstStyle>
            <a:lvl1pPr marL="0" indent="0" algn="r">
              <a:buNone/>
              <a:defRPr>
                <a:solidFill>
                  <a:schemeClr val="bg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5" name="Title 4">
            <a:extLst>
              <a:ext uri="{FF2B5EF4-FFF2-40B4-BE49-F238E27FC236}">
                <a16:creationId xmlns:a16="http://schemas.microsoft.com/office/drawing/2014/main" id="{7F8E7C83-06D7-4C5B-85B7-0E5713B4FAB3}"/>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98778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102" cy="6804025"/>
          </a:xfrm>
          <a:solidFill>
            <a:schemeClr val="bg1">
              <a:lumMod val="85000"/>
            </a:schemeClr>
          </a:solidFill>
        </p:spPr>
        <p:txBody>
          <a:bodyPr tIns="0"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8458200" y="2798354"/>
            <a:ext cx="3733800" cy="1013684"/>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Thank You</a:t>
            </a:r>
          </a:p>
        </p:txBody>
      </p:sp>
      <p:sp>
        <p:nvSpPr>
          <p:cNvPr id="9" name="Text Placeholder 5">
            <a:extLst>
              <a:ext uri="{FF2B5EF4-FFF2-40B4-BE49-F238E27FC236}">
                <a16:creationId xmlns:a16="http://schemas.microsoft.com/office/drawing/2014/main" id="{52FA7FC9-E40E-4144-84E4-34E3722E9A6D}"/>
              </a:ext>
            </a:extLst>
          </p:cNvPr>
          <p:cNvSpPr>
            <a:spLocks noGrp="1"/>
          </p:cNvSpPr>
          <p:nvPr>
            <p:ph type="body" sz="quarter" idx="15" hasCustomPrompt="1"/>
          </p:nvPr>
        </p:nvSpPr>
        <p:spPr>
          <a:xfrm>
            <a:off x="8458200" y="3957705"/>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Full Name</a:t>
            </a:r>
          </a:p>
        </p:txBody>
      </p:sp>
      <p:sp>
        <p:nvSpPr>
          <p:cNvPr id="10" name="Text Placeholder 6">
            <a:extLst>
              <a:ext uri="{FF2B5EF4-FFF2-40B4-BE49-F238E27FC236}">
                <a16:creationId xmlns:a16="http://schemas.microsoft.com/office/drawing/2014/main" id="{97289182-4FE6-4A18-9775-4588D5801CF6}"/>
              </a:ext>
            </a:extLst>
          </p:cNvPr>
          <p:cNvSpPr>
            <a:spLocks noGrp="1"/>
          </p:cNvSpPr>
          <p:nvPr>
            <p:ph type="body" sz="quarter" idx="16" hasCustomPrompt="1"/>
          </p:nvPr>
        </p:nvSpPr>
        <p:spPr>
          <a:xfrm>
            <a:off x="8458200" y="4306722"/>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 Number</a:t>
            </a:r>
          </a:p>
        </p:txBody>
      </p:sp>
      <p:sp>
        <p:nvSpPr>
          <p:cNvPr id="11" name="Text Placeholder 7">
            <a:extLst>
              <a:ext uri="{FF2B5EF4-FFF2-40B4-BE49-F238E27FC236}">
                <a16:creationId xmlns:a16="http://schemas.microsoft.com/office/drawing/2014/main" id="{BD4E94C7-6CAF-4FEE-9E02-D3D3A2AC5EAF}"/>
              </a:ext>
            </a:extLst>
          </p:cNvPr>
          <p:cNvSpPr>
            <a:spLocks noGrp="1"/>
          </p:cNvSpPr>
          <p:nvPr>
            <p:ph type="body" sz="quarter" idx="17" hasCustomPrompt="1"/>
          </p:nvPr>
        </p:nvSpPr>
        <p:spPr>
          <a:xfrm>
            <a:off x="8458200" y="4655739"/>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Email or Social Media Handle</a:t>
            </a:r>
          </a:p>
        </p:txBody>
      </p:sp>
      <p:sp>
        <p:nvSpPr>
          <p:cNvPr id="12" name="Text Placeholder 8">
            <a:extLst>
              <a:ext uri="{FF2B5EF4-FFF2-40B4-BE49-F238E27FC236}">
                <a16:creationId xmlns:a16="http://schemas.microsoft.com/office/drawing/2014/main" id="{0DE421A3-3C59-48FC-BC3B-007ADFBEB4FE}"/>
              </a:ext>
            </a:extLst>
          </p:cNvPr>
          <p:cNvSpPr>
            <a:spLocks noGrp="1"/>
          </p:cNvSpPr>
          <p:nvPr>
            <p:ph type="body" sz="quarter" idx="18" hasCustomPrompt="1"/>
          </p:nvPr>
        </p:nvSpPr>
        <p:spPr>
          <a:xfrm>
            <a:off x="8458200" y="5004756"/>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Company Website</a:t>
            </a:r>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8458200" y="2685912"/>
            <a:ext cx="3733800"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222FB6A7-1E80-487C-93E6-DCAA8751EF21}"/>
              </a:ext>
            </a:extLst>
          </p:cNvPr>
          <p:cNvSpPr>
            <a:spLocks noGrp="1"/>
          </p:cNvSpPr>
          <p:nvPr>
            <p:ph type="sldNum" sz="quarter" idx="20"/>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049663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1512000"/>
            <a:ext cx="5472000" cy="468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4">
            <a:extLst>
              <a:ext uri="{FF2B5EF4-FFF2-40B4-BE49-F238E27FC236}">
                <a16:creationId xmlns:a16="http://schemas.microsoft.com/office/drawing/2014/main" id="{7867C73D-EE16-41D1-B7CE-A35C765E3B8D}"/>
              </a:ext>
            </a:extLst>
          </p:cNvPr>
          <p:cNvSpPr>
            <a:spLocks noGrp="1"/>
          </p:cNvSpPr>
          <p:nvPr>
            <p:ph type="body" sz="quarter" idx="12"/>
          </p:nvPr>
        </p:nvSpPr>
        <p:spPr>
          <a:xfrm>
            <a:off x="6299887" y="1511250"/>
            <a:ext cx="5472113" cy="468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360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p:nvPr>
        </p:nvSpPr>
        <p:spPr>
          <a:xfrm>
            <a:off x="4301550" y="1511476"/>
            <a:ext cx="3600450" cy="467924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5">
            <a:extLst>
              <a:ext uri="{FF2B5EF4-FFF2-40B4-BE49-F238E27FC236}">
                <a16:creationId xmlns:a16="http://schemas.microsoft.com/office/drawing/2014/main" id="{5B4A252E-78C9-4F76-98A4-A4B580AD072A}"/>
              </a:ext>
            </a:extLst>
          </p:cNvPr>
          <p:cNvSpPr>
            <a:spLocks noGrp="1"/>
          </p:cNvSpPr>
          <p:nvPr>
            <p:ph type="body" sz="quarter" idx="13"/>
          </p:nvPr>
        </p:nvSpPr>
        <p:spPr>
          <a:xfrm>
            <a:off x="8171550" y="1511475"/>
            <a:ext cx="3600450"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216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512000"/>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5">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512000"/>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6">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507535"/>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507535"/>
            <a:ext cx="2160588" cy="468371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a:t>Click to edit Master subtitle style</a:t>
            </a:r>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57760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11" name="Text Placeholder 2">
            <a:extLst>
              <a:ext uri="{FF2B5EF4-FFF2-40B4-BE49-F238E27FC236}">
                <a16:creationId xmlns:a16="http://schemas.microsoft.com/office/drawing/2014/main" id="{14B95064-E6BF-43CD-ACBD-6363E8D9BF6A}"/>
              </a:ext>
            </a:extLst>
          </p:cNvPr>
          <p:cNvSpPr>
            <a:spLocks noGrp="1"/>
          </p:cNvSpPr>
          <p:nvPr>
            <p:ph type="body" idx="1"/>
          </p:nvPr>
        </p:nvSpPr>
        <p:spPr>
          <a:xfrm>
            <a:off x="0" y="4114627"/>
            <a:ext cx="5956300" cy="1095056"/>
          </a:xfrm>
          <a:solidFill>
            <a:schemeClr val="tx1">
              <a:alpha val="80000"/>
            </a:schemeClr>
          </a:solidFill>
        </p:spPr>
        <p:txBody>
          <a:bodyPr vert="horz" lIns="252000" tIns="180000" rIns="180000" bIns="180000" rtlCol="0">
            <a:noAutofit/>
          </a:bodyPr>
          <a:lstStyle>
            <a:lvl1pPr marL="0" indent="0" algn="l">
              <a:buNone/>
              <a:defRPr lang="en-US">
                <a:solidFill>
                  <a:schemeClr val="bg1"/>
                </a:solidFill>
              </a:defRPr>
            </a:lvl1pPr>
          </a:lstStyle>
          <a:p>
            <a:pPr marL="266700" lvl="0" indent="-266700"/>
            <a:r>
              <a:rPr lang="en-US" noProof="0"/>
              <a:t>Click to edit Master text styles</a:t>
            </a:r>
          </a:p>
        </p:txBody>
      </p:sp>
    </p:spTree>
    <p:extLst>
      <p:ext uri="{BB962C8B-B14F-4D97-AF65-F5344CB8AC3E}">
        <p14:creationId xmlns:p14="http://schemas.microsoft.com/office/powerpoint/2010/main" val="39825637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008000"/>
            <a:ext cx="11328000" cy="5183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62075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9" name="Content Placeholder 3">
            <a:extLst>
              <a:ext uri="{FF2B5EF4-FFF2-40B4-BE49-F238E27FC236}">
                <a16:creationId xmlns:a16="http://schemas.microsoft.com/office/drawing/2014/main" id="{EE1E0B79-3CC8-4DCF-8AEC-AC43BC9A3048}"/>
              </a:ext>
            </a:extLst>
          </p:cNvPr>
          <p:cNvSpPr>
            <a:spLocks noGrp="1"/>
          </p:cNvSpPr>
          <p:nvPr>
            <p:ph sz="half" idx="2"/>
          </p:nvPr>
        </p:nvSpPr>
        <p:spPr>
          <a:xfrm>
            <a:off x="6311886" y="1007250"/>
            <a:ext cx="5460114" cy="516971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2">
            <a:extLst>
              <a:ext uri="{FF2B5EF4-FFF2-40B4-BE49-F238E27FC236}">
                <a16:creationId xmlns:a16="http://schemas.microsoft.com/office/drawing/2014/main" id="{15546508-E26C-46CD-8939-D20E71BF4ED7}"/>
              </a:ext>
            </a:extLst>
          </p:cNvPr>
          <p:cNvSpPr>
            <a:spLocks noGrp="1"/>
          </p:cNvSpPr>
          <p:nvPr>
            <p:ph sz="half" idx="1"/>
          </p:nvPr>
        </p:nvSpPr>
        <p:spPr>
          <a:xfrm>
            <a:off x="431999" y="1007250"/>
            <a:ext cx="5448115" cy="516971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15553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016231"/>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2" name="Rectangle 11" descr="Accent bar right&#10;">
            <a:extLst>
              <a:ext uri="{FF2B5EF4-FFF2-40B4-BE49-F238E27FC236}">
                <a16:creationId xmlns:a16="http://schemas.microsoft.com/office/drawing/2014/main" id="{3E8A46E0-47C2-4441-B7DD-F621A80F1FC8}"/>
              </a:ext>
              <a:ext uri="{C183D7F6-B498-43B3-948B-1728B52AA6E4}">
                <adec:decorative xmlns:adec="http://schemas.microsoft.com/office/drawing/2017/decorative" val="1"/>
              </a:ext>
            </a:extLst>
          </p:cNvPr>
          <p:cNvSpPr/>
          <p:nvPr userDrawn="1"/>
        </p:nvSpPr>
        <p:spPr>
          <a:xfrm>
            <a:off x="6299887" y="1016231"/>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Text Placeholder 2">
            <a:extLst>
              <a:ext uri="{FF2B5EF4-FFF2-40B4-BE49-F238E27FC236}">
                <a16:creationId xmlns:a16="http://schemas.microsoft.com/office/drawing/2014/main" id="{D902C307-6561-4E11-9899-1F34830AE8AB}"/>
              </a:ext>
            </a:extLst>
          </p:cNvPr>
          <p:cNvSpPr>
            <a:spLocks noGrp="1"/>
          </p:cNvSpPr>
          <p:nvPr>
            <p:ph type="body" idx="1"/>
          </p:nvPr>
        </p:nvSpPr>
        <p:spPr>
          <a:xfrm>
            <a:off x="431800" y="1224128"/>
            <a:ext cx="5448115"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6" name="Text Placeholder 4">
            <a:extLst>
              <a:ext uri="{FF2B5EF4-FFF2-40B4-BE49-F238E27FC236}">
                <a16:creationId xmlns:a16="http://schemas.microsoft.com/office/drawing/2014/main" id="{CD73439B-6B1B-47C5-B2B0-409015FB3398}"/>
              </a:ext>
            </a:extLst>
          </p:cNvPr>
          <p:cNvSpPr>
            <a:spLocks noGrp="1"/>
          </p:cNvSpPr>
          <p:nvPr>
            <p:ph type="body" sz="quarter" idx="3"/>
          </p:nvPr>
        </p:nvSpPr>
        <p:spPr>
          <a:xfrm>
            <a:off x="6312086" y="1224128"/>
            <a:ext cx="5447914"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7" name="Content Placeholder 5">
            <a:extLst>
              <a:ext uri="{FF2B5EF4-FFF2-40B4-BE49-F238E27FC236}">
                <a16:creationId xmlns:a16="http://schemas.microsoft.com/office/drawing/2014/main" id="{12AC6878-44C6-4445-A225-70C0DC482EDF}"/>
              </a:ext>
            </a:extLst>
          </p:cNvPr>
          <p:cNvSpPr>
            <a:spLocks noGrp="1"/>
          </p:cNvSpPr>
          <p:nvPr>
            <p:ph sz="quarter" idx="4"/>
          </p:nvPr>
        </p:nvSpPr>
        <p:spPr>
          <a:xfrm>
            <a:off x="6299886" y="1955731"/>
            <a:ext cx="5447914" cy="423393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Placeholder 3">
            <a:extLst>
              <a:ext uri="{FF2B5EF4-FFF2-40B4-BE49-F238E27FC236}">
                <a16:creationId xmlns:a16="http://schemas.microsoft.com/office/drawing/2014/main" id="{6D675DA8-374F-4915-973A-53612A41FFC1}"/>
              </a:ext>
            </a:extLst>
          </p:cNvPr>
          <p:cNvSpPr>
            <a:spLocks noGrp="1"/>
          </p:cNvSpPr>
          <p:nvPr>
            <p:ph sz="half" idx="2"/>
          </p:nvPr>
        </p:nvSpPr>
        <p:spPr>
          <a:xfrm>
            <a:off x="431800" y="1943031"/>
            <a:ext cx="5447914" cy="424663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6253150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892926"/>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Content Placeholder 2">
            <a:extLst>
              <a:ext uri="{FF2B5EF4-FFF2-40B4-BE49-F238E27FC236}">
                <a16:creationId xmlns:a16="http://schemas.microsoft.com/office/drawing/2014/main" id="{85B68CA9-AC4C-4D15-9BA1-A9F1AC5606DA}"/>
              </a:ext>
            </a:extLst>
          </p:cNvPr>
          <p:cNvSpPr>
            <a:spLocks noGrp="1"/>
          </p:cNvSpPr>
          <p:nvPr>
            <p:ph idx="1"/>
          </p:nvPr>
        </p:nvSpPr>
        <p:spPr>
          <a:xfrm>
            <a:off x="4788816" y="432001"/>
            <a:ext cx="6971184" cy="5429050"/>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3">
            <a:extLst>
              <a:ext uri="{FF2B5EF4-FFF2-40B4-BE49-F238E27FC236}">
                <a16:creationId xmlns:a16="http://schemas.microsoft.com/office/drawing/2014/main" id="{29B24D8A-D8A5-4F57-A260-A4CF75FCB3BD}"/>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8014327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892926"/>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9" name="Text Placeholder 3">
            <a:extLst>
              <a:ext uri="{FF2B5EF4-FFF2-40B4-BE49-F238E27FC236}">
                <a16:creationId xmlns:a16="http://schemas.microsoft.com/office/drawing/2014/main" id="{3E50A411-2E68-4F4D-B4BC-62E87C633658}"/>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0" name="Picture Placeholder 2">
            <a:extLst>
              <a:ext uri="{FF2B5EF4-FFF2-40B4-BE49-F238E27FC236}">
                <a16:creationId xmlns:a16="http://schemas.microsoft.com/office/drawing/2014/main" id="{2FBF39A8-0BD5-48FD-9993-F595D4F727C1}"/>
              </a:ext>
            </a:extLst>
          </p:cNvPr>
          <p:cNvSpPr>
            <a:spLocks noGrp="1"/>
          </p:cNvSpPr>
          <p:nvPr>
            <p:ph type="pic" idx="1"/>
          </p:nvPr>
        </p:nvSpPr>
        <p:spPr>
          <a:xfrm>
            <a:off x="4788816" y="432001"/>
            <a:ext cx="6971184" cy="54290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20406333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853CF994-8B2C-443F-B695-7378DD360DAA}"/>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graphicFrame>
        <p:nvGraphicFramePr>
          <p:cNvPr id="8" name="Chart 7" title="Gross Revenue Placeholder Chart">
            <a:extLst>
              <a:ext uri="{FF2B5EF4-FFF2-40B4-BE49-F238E27FC236}">
                <a16:creationId xmlns:a16="http://schemas.microsoft.com/office/drawing/2014/main" id="{0F60C5FF-F2F2-4EA7-ADED-E162A5B82B4C}"/>
              </a:ext>
            </a:extLst>
          </p:cNvPr>
          <p:cNvGraphicFramePr/>
          <p:nvPr userDrawn="1">
            <p:extLst>
              <p:ext uri="{D42A27DB-BD31-4B8C-83A1-F6EECF244321}">
                <p14:modId xmlns:p14="http://schemas.microsoft.com/office/powerpoint/2010/main" val="537021869"/>
              </p:ext>
            </p:extLst>
          </p:nvPr>
        </p:nvGraphicFramePr>
        <p:xfrm>
          <a:off x="431800" y="1512000"/>
          <a:ext cx="3389313" cy="444419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title="Gross Revenue Placeholder Chart">
            <a:extLst>
              <a:ext uri="{FF2B5EF4-FFF2-40B4-BE49-F238E27FC236}">
                <a16:creationId xmlns:a16="http://schemas.microsoft.com/office/drawing/2014/main" id="{D5AA46A9-40E0-4FA5-BFED-6D14ED62EFFB}"/>
              </a:ext>
            </a:extLst>
          </p:cNvPr>
          <p:cNvGraphicFramePr/>
          <p:nvPr userDrawn="1">
            <p:extLst>
              <p:ext uri="{D42A27DB-BD31-4B8C-83A1-F6EECF244321}">
                <p14:modId xmlns:p14="http://schemas.microsoft.com/office/powerpoint/2010/main" val="2314973354"/>
              </p:ext>
            </p:extLst>
          </p:nvPr>
        </p:nvGraphicFramePr>
        <p:xfrm>
          <a:off x="4406900" y="1512000"/>
          <a:ext cx="3389313" cy="444419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title="Gross Revenue Placeholder Chart">
            <a:extLst>
              <a:ext uri="{FF2B5EF4-FFF2-40B4-BE49-F238E27FC236}">
                <a16:creationId xmlns:a16="http://schemas.microsoft.com/office/drawing/2014/main" id="{F7175363-BD78-41A0-92CF-0F9E5A14568A}"/>
              </a:ext>
            </a:extLst>
          </p:cNvPr>
          <p:cNvGraphicFramePr/>
          <p:nvPr userDrawn="1">
            <p:extLst>
              <p:ext uri="{D42A27DB-BD31-4B8C-83A1-F6EECF244321}">
                <p14:modId xmlns:p14="http://schemas.microsoft.com/office/powerpoint/2010/main" val="351553000"/>
              </p:ext>
            </p:extLst>
          </p:nvPr>
        </p:nvGraphicFramePr>
        <p:xfrm>
          <a:off x="8382000" y="1512000"/>
          <a:ext cx="3389313" cy="444419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582651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a16="http://schemas.microsoft.com/office/drawing/2014/main" id="{90694D9D-C633-4D52-965E-E5BBD9883037}"/>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1397670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a16="http://schemas.microsoft.com/office/drawing/2014/main" id="{90694D9D-C633-4D52-965E-E5BBD9883037}"/>
              </a:ext>
            </a:extLst>
          </p:cNvPr>
          <p:cNvSpPr>
            <a:spLocks noGrp="1"/>
          </p:cNvSpPr>
          <p:nvPr>
            <p:ph type="title"/>
          </p:nvPr>
        </p:nvSpPr>
        <p:spPr/>
        <p:txBody>
          <a:bodyPr/>
          <a:lstStyle/>
          <a:p>
            <a:r>
              <a:rPr lang="en-US" noProof="0"/>
              <a:t>Click to edit Master title style</a:t>
            </a:r>
          </a:p>
        </p:txBody>
      </p:sp>
      <p:sp>
        <p:nvSpPr>
          <p:cNvPr id="6" name="Text Placeholder 5">
            <a:extLst>
              <a:ext uri="{FF2B5EF4-FFF2-40B4-BE49-F238E27FC236}">
                <a16:creationId xmlns:a16="http://schemas.microsoft.com/office/drawing/2014/main" id="{0DB3A426-6D4A-4D91-ACD6-A2C25BAE44E3}"/>
              </a:ext>
            </a:extLst>
          </p:cNvPr>
          <p:cNvSpPr>
            <a:spLocks noGrp="1"/>
          </p:cNvSpPr>
          <p:nvPr>
            <p:ph type="body" sz="quarter" idx="14"/>
          </p:nvPr>
        </p:nvSpPr>
        <p:spPr>
          <a:xfrm>
            <a:off x="1664370" y="2033588"/>
            <a:ext cx="8863262" cy="2790825"/>
          </a:xfrm>
        </p:spPr>
        <p:txBody>
          <a:bodyPr anchor="ctr"/>
          <a:lstStyle>
            <a:lvl1pPr marL="0" indent="0" algn="ctr">
              <a:buNone/>
              <a:defRPr sz="6000"/>
            </a:lvl1pPr>
            <a:lvl2pPr marL="266700" indent="0">
              <a:buNone/>
              <a:defRPr/>
            </a:lvl2pPr>
          </a:lstStyle>
          <a:p>
            <a:pPr lvl="0"/>
            <a:r>
              <a:rPr lang="en-US" noProof="0"/>
              <a:t>Click to edit Master text styles</a:t>
            </a:r>
          </a:p>
        </p:txBody>
      </p:sp>
    </p:spTree>
    <p:extLst>
      <p:ext uri="{BB962C8B-B14F-4D97-AF65-F5344CB8AC3E}">
        <p14:creationId xmlns:p14="http://schemas.microsoft.com/office/powerpoint/2010/main" val="28772436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3900433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26" Type="http://schemas.openxmlformats.org/officeDocument/2006/relationships/theme" Target="../theme/theme1.xml" /><Relationship Id="rId3" Type="http://schemas.openxmlformats.org/officeDocument/2006/relationships/slideLayout" Target="../slideLayouts/slideLayout3.xml" /><Relationship Id="rId21" Type="http://schemas.openxmlformats.org/officeDocument/2006/relationships/slideLayout" Target="../slideLayouts/slideLayout21.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EB0D177-9AA4-42F4-9CD7-CD206217CA6D}"/>
              </a:ext>
            </a:extLst>
          </p:cNvPr>
          <p:cNvSpPr/>
          <p:nvPr/>
        </p:nvSpPr>
        <p:spPr>
          <a:xfrm>
            <a:off x="9780101" y="6371351"/>
            <a:ext cx="1979897" cy="431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ectangle 27">
            <a:extLst>
              <a:ext uri="{FF2B5EF4-FFF2-40B4-BE49-F238E27FC236}">
                <a16:creationId xmlns:a16="http://schemas.microsoft.com/office/drawing/2014/main" id="{C825DB53-D610-4A40-AFDC-EBC47DB613CE}"/>
              </a:ext>
            </a:extLst>
          </p:cNvPr>
          <p:cNvSpPr/>
          <p:nvPr/>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Freeform: Shape 30">
            <a:extLst>
              <a:ext uri="{FF2B5EF4-FFF2-40B4-BE49-F238E27FC236}">
                <a16:creationId xmlns:a16="http://schemas.microsoft.com/office/drawing/2014/main" id="{C2B9A6A4-83D0-40B1-8B15-964C84BF0705}"/>
              </a:ext>
            </a:extLst>
          </p:cNvPr>
          <p:cNvSpPr/>
          <p:nvPr/>
        </p:nvSpPr>
        <p:spPr>
          <a:xfrm>
            <a:off x="0" y="6371351"/>
            <a:ext cx="9780102" cy="432000"/>
          </a:xfrm>
          <a:custGeom>
            <a:avLst/>
            <a:gdLst>
              <a:gd name="connsiteX0" fmla="*/ 0 w 9780102"/>
              <a:gd name="connsiteY0" fmla="*/ 0 h 432000"/>
              <a:gd name="connsiteX1" fmla="*/ 9780102 w 9780102"/>
              <a:gd name="connsiteY1" fmla="*/ 0 h 432000"/>
              <a:gd name="connsiteX2" fmla="*/ 9780102 w 9780102"/>
              <a:gd name="connsiteY2" fmla="*/ 432000 h 432000"/>
              <a:gd name="connsiteX3" fmla="*/ 0 w 9780102"/>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9780102" h="432000">
                <a:moveTo>
                  <a:pt x="0" y="0"/>
                </a:moveTo>
                <a:lnTo>
                  <a:pt x="9780102" y="0"/>
                </a:lnTo>
                <a:lnTo>
                  <a:pt x="9780102" y="432000"/>
                </a:lnTo>
                <a:lnTo>
                  <a:pt x="0" y="432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r>
              <a:rPr lang="en-US" noProof="0"/>
              <a:t>Click to edit page title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439820"/>
            <a:ext cx="5664000" cy="29506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r>
              <a:rPr lang="en-US" noProof="0" dirty="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fld id="{19B51A1E-902D-48AF-9020-955120F399B6}" type="slidenum">
              <a:rPr lang="en-US" noProof="0" smtClean="0"/>
              <a:pPr/>
              <a:t>‹#›</a:t>
            </a:fld>
            <a:endParaRPr lang="en-US" noProof="0" dirty="0"/>
          </a:p>
        </p:txBody>
      </p:sp>
      <p:sp>
        <p:nvSpPr>
          <p:cNvPr id="9" name="Rectangle 8">
            <a:extLst>
              <a:ext uri="{FF2B5EF4-FFF2-40B4-BE49-F238E27FC236}">
                <a16:creationId xmlns:a16="http://schemas.microsoft.com/office/drawing/2014/main" id="{4BC39664-EB8B-4A32-915A-D4308F792772}"/>
              </a:ext>
            </a:extLst>
          </p:cNvPr>
          <p:cNvSpPr/>
          <p:nvPr/>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9B49670D-8F18-44A8-B217-67B412095C0D}"/>
              </a:ext>
            </a:extLst>
          </p:cNvPr>
          <p:cNvSpPr/>
          <p:nvPr/>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030FA059-EC32-4FFF-9673-48849B2FA43A}"/>
              </a:ext>
            </a:extLst>
          </p:cNvPr>
          <p:cNvCxnSpPr>
            <a:cxnSpLocks/>
          </p:cNvCxnSpPr>
          <p:nvPr/>
        </p:nvCxnSpPr>
        <p:spPr>
          <a:xfrm flipH="1">
            <a:off x="1" y="6371351"/>
            <a:ext cx="1219199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66" r:id="rId3"/>
    <p:sldLayoutId id="2147483662" r:id="rId4"/>
    <p:sldLayoutId id="2147483659" r:id="rId5"/>
    <p:sldLayoutId id="2147483663" r:id="rId6"/>
    <p:sldLayoutId id="2147483677" r:id="rId7"/>
    <p:sldLayoutId id="2147483654" r:id="rId8"/>
    <p:sldLayoutId id="2147483660" r:id="rId9"/>
    <p:sldLayoutId id="2147483664" r:id="rId10"/>
    <p:sldLayoutId id="2147483650" r:id="rId11"/>
    <p:sldLayoutId id="2147483652" r:id="rId12"/>
    <p:sldLayoutId id="2147483656" r:id="rId13"/>
    <p:sldLayoutId id="2147483657" r:id="rId14"/>
    <p:sldLayoutId id="2147483667" r:id="rId15"/>
    <p:sldLayoutId id="2147483668" r:id="rId16"/>
    <p:sldLayoutId id="2147483669" r:id="rId17"/>
    <p:sldLayoutId id="2147483670" r:id="rId18"/>
    <p:sldLayoutId id="2147483671" r:id="rId19"/>
    <p:sldLayoutId id="2147483673" r:id="rId20"/>
    <p:sldLayoutId id="2147483674" r:id="rId21"/>
    <p:sldLayoutId id="2147483676" r:id="rId22"/>
    <p:sldLayoutId id="2147483655" r:id="rId23"/>
    <p:sldLayoutId id="2147483675" r:id="rId24"/>
    <p:sldLayoutId id="2147483672" r:id="rId25"/>
  </p:sldLayoutIdLst>
  <p:hf hdr="0" dt="0"/>
  <p:txStyles>
    <p:title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tmp"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3.tmp"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5.tmp" /><Relationship Id="rId2" Type="http://schemas.openxmlformats.org/officeDocument/2006/relationships/image" Target="../media/image4.tmp" /><Relationship Id="rId1" Type="http://schemas.openxmlformats.org/officeDocument/2006/relationships/slideLayout" Target="../slideLayouts/slideLayout4.xml" /></Relationships>
</file>

<file path=ppt/slides/_rels/slide4.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6.tmp" /><Relationship Id="rId1" Type="http://schemas.openxmlformats.org/officeDocument/2006/relationships/slideLayout" Target="../slideLayouts/slideLayout3.xml" /></Relationships>
</file>

<file path=ppt/slides/_rels/slide5.xml.rels><?xml version="1.0" encoding="UTF-8" standalone="yes"?>
<Relationships xmlns="http://schemas.openxmlformats.org/package/2006/relationships"><Relationship Id="rId3" Type="http://schemas.openxmlformats.org/officeDocument/2006/relationships/image" Target="../media/image8.tmp" /><Relationship Id="rId2" Type="http://schemas.openxmlformats.org/officeDocument/2006/relationships/image" Target="../media/image7.tmp" /><Relationship Id="rId1" Type="http://schemas.openxmlformats.org/officeDocument/2006/relationships/slideLayout" Target="../slideLayouts/slideLayout3.xml" /><Relationship Id="rId4" Type="http://schemas.openxmlformats.org/officeDocument/2006/relationships/image" Target="../media/image9.tmp" /></Relationships>
</file>

<file path=ppt/slides/_rels/slide6.xml.rels><?xml version="1.0" encoding="UTF-8" standalone="yes"?>
<Relationships xmlns="http://schemas.openxmlformats.org/package/2006/relationships"><Relationship Id="rId3" Type="http://schemas.openxmlformats.org/officeDocument/2006/relationships/image" Target="../media/image11.tmp" /><Relationship Id="rId2" Type="http://schemas.openxmlformats.org/officeDocument/2006/relationships/image" Target="../media/image10.tmp" /><Relationship Id="rId1" Type="http://schemas.openxmlformats.org/officeDocument/2006/relationships/slideLayout" Target="../slideLayouts/slideLayout3.xml" /><Relationship Id="rId6" Type="http://schemas.openxmlformats.org/officeDocument/2006/relationships/image" Target="../media/image2.jpeg" /><Relationship Id="rId5" Type="http://schemas.openxmlformats.org/officeDocument/2006/relationships/image" Target="../media/image13.tmp" /><Relationship Id="rId4" Type="http://schemas.openxmlformats.org/officeDocument/2006/relationships/image" Target="../media/image12.tmp" /></Relationships>
</file>

<file path=ppt/slides/_rels/slide7.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tmp" /><Relationship Id="rId1" Type="http://schemas.openxmlformats.org/officeDocument/2006/relationships/slideLayout" Target="../slideLayouts/slideLayout15.xml" /></Relationships>
</file>

<file path=ppt/slides/_rels/slide8.xml.rels><?xml version="1.0" encoding="UTF-8" standalone="yes"?>
<Relationships xmlns="http://schemas.openxmlformats.org/package/2006/relationships"><Relationship Id="rId3" Type="http://schemas.openxmlformats.org/officeDocument/2006/relationships/image" Target="../media/image1.tmp" /><Relationship Id="rId2" Type="http://schemas.openxmlformats.org/officeDocument/2006/relationships/image" Target="../media/image14.tmp" /><Relationship Id="rId1" Type="http://schemas.openxmlformats.org/officeDocument/2006/relationships/slideLayout" Target="../slideLayouts/slideLayout9.xml" /></Relationships>
</file>

<file path=ppt/slides/_rels/slide9.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tmp" /><Relationship Id="rId1" Type="http://schemas.openxmlformats.org/officeDocument/2006/relationships/slideLayout" Target="../slideLayouts/slideLayout9.xml" /></Relationships>
</file>

<file path=ppt/slides/_rels/slide10.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tmp" /><Relationship Id="rId1" Type="http://schemas.openxmlformats.org/officeDocument/2006/relationships/slideLayout" Target="../slideLayouts/slideLayout9.xml" /></Relationships>
</file>

<file path=ppt/slides/_rels/slide1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tmp" /><Relationship Id="rId1" Type="http://schemas.openxmlformats.org/officeDocument/2006/relationships/slideLayout" Target="../slideLayouts/slideLayout9.xml" /></Relationships>
</file>

<file path=ppt/slides/_rels/slide12.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tmp" /><Relationship Id="rId1" Type="http://schemas.openxmlformats.org/officeDocument/2006/relationships/slideLayout" Target="../slideLayouts/slideLayout9.xml" /></Relationships>
</file>

<file path=ppt/slides/_rels/slide13.xml.rels><?xml version="1.0" encoding="UTF-8" standalone="yes"?>
<Relationships xmlns="http://schemas.openxmlformats.org/package/2006/relationships"><Relationship Id="rId8" Type="http://schemas.openxmlformats.org/officeDocument/2006/relationships/image" Target="../media/image20.svg" /><Relationship Id="rId3" Type="http://schemas.openxmlformats.org/officeDocument/2006/relationships/image" Target="../media/image15.png" /><Relationship Id="rId7" Type="http://schemas.openxmlformats.org/officeDocument/2006/relationships/image" Target="../media/image19.png" /><Relationship Id="rId2" Type="http://schemas.openxmlformats.org/officeDocument/2006/relationships/image" Target="../media/image1.tmp" /><Relationship Id="rId1" Type="http://schemas.openxmlformats.org/officeDocument/2006/relationships/slideLayout" Target="../slideLayouts/slideLayout10.xml" /><Relationship Id="rId6" Type="http://schemas.openxmlformats.org/officeDocument/2006/relationships/image" Target="../media/image18.svg" /><Relationship Id="rId11" Type="http://schemas.openxmlformats.org/officeDocument/2006/relationships/image" Target="../media/image2.jpeg" /><Relationship Id="rId5" Type="http://schemas.openxmlformats.org/officeDocument/2006/relationships/image" Target="../media/image17.png" /><Relationship Id="rId10" Type="http://schemas.openxmlformats.org/officeDocument/2006/relationships/image" Target="../media/image22.svg" /><Relationship Id="rId4" Type="http://schemas.openxmlformats.org/officeDocument/2006/relationships/image" Target="../media/image16.svg" /><Relationship Id="rId9" Type="http://schemas.openxmlformats.org/officeDocument/2006/relationships/image" Target="../media/image21.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AA8A1CBA-9BB5-2246-9F4B-98EAD7C90158}"/>
              </a:ext>
            </a:extLst>
          </p:cNvPr>
          <p:cNvPicPr>
            <a:picLocks noGrp="1" noChangeAspect="1"/>
          </p:cNvPicPr>
          <p:nvPr>
            <p:ph type="pic" sz="quarter" idx="10"/>
          </p:nvPr>
        </p:nvPicPr>
        <p:blipFill>
          <a:blip r:embed="rId2"/>
          <a:srcRect/>
          <a:stretch/>
        </p:blipFill>
        <p:spPr>
          <a:xfrm>
            <a:off x="0" y="0"/>
            <a:ext cx="6804025" cy="6804025"/>
          </a:xfrm>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a:xfrm>
            <a:off x="6478396" y="2796961"/>
            <a:ext cx="5713603" cy="1548410"/>
          </a:xfrm>
        </p:spPr>
        <p:txBody>
          <a:bodyPr/>
          <a:lstStyle/>
          <a:p>
            <a:r>
              <a:rPr lang="en-US" dirty="0"/>
              <a:t>Project  Aerivia</a:t>
            </a:r>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a:xfrm>
            <a:off x="5352760" y="4019127"/>
            <a:ext cx="4822998" cy="704954"/>
          </a:xfrm>
        </p:spPr>
        <p:txBody>
          <a:bodyPr/>
          <a:lstStyle/>
          <a:p>
            <a:r>
              <a:rPr lang="en-US" dirty="0"/>
              <a:t>An in-depth analysis for the development of Project Aerivia</a:t>
            </a:r>
          </a:p>
        </p:txBody>
      </p:sp>
      <p:sp>
        <p:nvSpPr>
          <p:cNvPr id="51" name="TextBox 50">
            <a:extLst>
              <a:ext uri="{FF2B5EF4-FFF2-40B4-BE49-F238E27FC236}">
                <a16:creationId xmlns:a16="http://schemas.microsoft.com/office/drawing/2014/main" id="{66C1DE0A-7865-466B-B5D7-781C92357026}"/>
              </a:ext>
            </a:extLst>
          </p:cNvPr>
          <p:cNvSpPr txBox="1"/>
          <p:nvPr/>
        </p:nvSpPr>
        <p:spPr>
          <a:xfrm>
            <a:off x="10308873" y="4084056"/>
            <a:ext cx="1510310" cy="52262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endParaRPr lang="en-US" sz="2400" b="1" i="0" spc="-100" baseline="0" dirty="0">
              <a:solidFill>
                <a:schemeClr val="tx1">
                  <a:lumMod val="75000"/>
                  <a:lumOff val="25000"/>
                </a:schemeClr>
              </a:solidFill>
              <a:latin typeface="+mj-lt"/>
            </a:endParaRPr>
          </a:p>
          <a:p>
            <a:pPr algn="ctr">
              <a:lnSpc>
                <a:spcPts val="1000"/>
              </a:lnSpc>
            </a:pPr>
            <a:r>
              <a:rPr lang="en-US" b="0" i="0" spc="140" baseline="0" dirty="0">
                <a:solidFill>
                  <a:schemeClr val="tx1">
                    <a:lumMod val="75000"/>
                    <a:lumOff val="25000"/>
                  </a:schemeClr>
                </a:solidFill>
                <a:latin typeface="+mj-lt"/>
              </a:rPr>
              <a:t>research</a:t>
            </a:r>
          </a:p>
        </p:txBody>
      </p:sp>
      <p:pic>
        <p:nvPicPr>
          <p:cNvPr id="2" name="Picture 1">
            <a:extLst>
              <a:ext uri="{FF2B5EF4-FFF2-40B4-BE49-F238E27FC236}">
                <a16:creationId xmlns:a16="http://schemas.microsoft.com/office/drawing/2014/main" id="{266C87A4-61C0-4767-16E0-558BDECC104F}"/>
              </a:ext>
            </a:extLst>
          </p:cNvPr>
          <p:cNvPicPr>
            <a:picLocks noChangeAspect="1"/>
          </p:cNvPicPr>
          <p:nvPr/>
        </p:nvPicPr>
        <p:blipFill>
          <a:blip r:embed="rId3"/>
          <a:stretch>
            <a:fillRect/>
          </a:stretch>
        </p:blipFill>
        <p:spPr>
          <a:xfrm>
            <a:off x="194275" y="4871254"/>
            <a:ext cx="1783173" cy="1783173"/>
          </a:xfrm>
          <a:prstGeom prst="rect">
            <a:avLst/>
          </a:prstGeom>
        </p:spPr>
      </p:pic>
    </p:spTree>
    <p:extLst>
      <p:ext uri="{BB962C8B-B14F-4D97-AF65-F5344CB8AC3E}">
        <p14:creationId xmlns:p14="http://schemas.microsoft.com/office/powerpoint/2010/main" val="3989923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A9A75888-22E3-1D43-9112-DA02186070B5}"/>
              </a:ext>
            </a:extLst>
          </p:cNvPr>
          <p:cNvPicPr>
            <a:picLocks noGrp="1" noChangeAspect="1"/>
          </p:cNvPicPr>
          <p:nvPr>
            <p:ph type="pic" sz="quarter" idx="14"/>
          </p:nvPr>
        </p:nvPicPr>
        <p:blipFill>
          <a:blip r:embed="rId2"/>
          <a:srcRect/>
          <a:stretch/>
        </p:blipFill>
        <p:spPr>
          <a:xfrm>
            <a:off x="6231500" y="9335"/>
            <a:ext cx="5960500" cy="6316701"/>
          </a:xfrm>
        </p:spPr>
      </p:pic>
      <p:sp>
        <p:nvSpPr>
          <p:cNvPr id="20" name="Rectangle 19">
            <a:extLst>
              <a:ext uri="{FF2B5EF4-FFF2-40B4-BE49-F238E27FC236}">
                <a16:creationId xmlns:a16="http://schemas.microsoft.com/office/drawing/2014/main" id="{EFA08948-2B6F-46B1-9D2D-8D7B2B3FBD56}"/>
              </a:ext>
              <a:ext uri="{C183D7F6-B498-43B3-948B-1728B52AA6E4}">
                <adec:decorative xmlns:adec="http://schemas.microsoft.com/office/drawing/2017/decorative" val="1"/>
              </a:ext>
            </a:extLst>
          </p:cNvPr>
          <p:cNvSpPr/>
          <p:nvPr/>
        </p:nvSpPr>
        <p:spPr>
          <a:xfrm>
            <a:off x="0" y="154819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0" y="1793549"/>
            <a:ext cx="2248072" cy="856543"/>
          </a:xfrm>
        </p:spPr>
        <p:txBody>
          <a:bodyPr/>
          <a:lstStyle/>
          <a:p>
            <a:r>
              <a:rPr lang="en-US" dirty="0"/>
              <a:t>About </a:t>
            </a:r>
          </a:p>
        </p:txBody>
      </p:sp>
      <p:sp>
        <p:nvSpPr>
          <p:cNvPr id="3" name="Text Placeholder 2">
            <a:extLst>
              <a:ext uri="{FF2B5EF4-FFF2-40B4-BE49-F238E27FC236}">
                <a16:creationId xmlns:a16="http://schemas.microsoft.com/office/drawing/2014/main" id="{611DC577-0A95-47D0-95D9-5F8DA763D46B}"/>
              </a:ext>
            </a:extLst>
          </p:cNvPr>
          <p:cNvSpPr>
            <a:spLocks noGrp="1"/>
          </p:cNvSpPr>
          <p:nvPr>
            <p:ph type="body" sz="quarter" idx="32"/>
          </p:nvPr>
        </p:nvSpPr>
        <p:spPr>
          <a:xfrm>
            <a:off x="0" y="2780626"/>
            <a:ext cx="5528499" cy="1057831"/>
          </a:xfrm>
        </p:spPr>
        <p:txBody>
          <a:bodyPr/>
          <a:lstStyle/>
          <a:p>
            <a:r>
              <a:rPr lang="en-US" b="1" dirty="0"/>
              <a:t>A presentation of insights aimed at informing the development of the Aerivia app in order to distinguish it from similar apps in it’s category.</a:t>
            </a: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2</a:t>
            </a:fld>
            <a:endParaRPr lang="en-US" dirty="0"/>
          </a:p>
        </p:txBody>
      </p:sp>
      <p:sp>
        <p:nvSpPr>
          <p:cNvPr id="7" name="TextBox 6">
            <a:extLst>
              <a:ext uri="{FF2B5EF4-FFF2-40B4-BE49-F238E27FC236}">
                <a16:creationId xmlns:a16="http://schemas.microsoft.com/office/drawing/2014/main" id="{0C984E60-8746-89D7-D836-675C7E327389}"/>
              </a:ext>
            </a:extLst>
          </p:cNvPr>
          <p:cNvSpPr txBox="1"/>
          <p:nvPr/>
        </p:nvSpPr>
        <p:spPr>
          <a:xfrm>
            <a:off x="9945065" y="6326036"/>
            <a:ext cx="1668951" cy="52262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endParaRPr lang="en-US" sz="2400" b="1" i="0" spc="-100" baseline="0" dirty="0">
              <a:solidFill>
                <a:schemeClr val="tx1">
                  <a:lumMod val="75000"/>
                  <a:lumOff val="25000"/>
                </a:schemeClr>
              </a:solidFill>
              <a:latin typeface="+mj-lt"/>
            </a:endParaRPr>
          </a:p>
          <a:p>
            <a:pPr algn="ctr">
              <a:lnSpc>
                <a:spcPts val="1000"/>
              </a:lnSpc>
            </a:pPr>
            <a:r>
              <a:rPr lang="en-US" b="0" i="0" spc="140" baseline="0" dirty="0">
                <a:solidFill>
                  <a:schemeClr val="tx1">
                    <a:lumMod val="75000"/>
                    <a:lumOff val="25000"/>
                  </a:schemeClr>
                </a:solidFill>
                <a:latin typeface="+mj-lt"/>
              </a:rPr>
              <a:t>research</a:t>
            </a:r>
          </a:p>
        </p:txBody>
      </p:sp>
      <p:sp>
        <p:nvSpPr>
          <p:cNvPr id="10" name="TextBox 9">
            <a:extLst>
              <a:ext uri="{FF2B5EF4-FFF2-40B4-BE49-F238E27FC236}">
                <a16:creationId xmlns:a16="http://schemas.microsoft.com/office/drawing/2014/main" id="{440DB8E5-7E91-323C-B276-2C86E120396B}"/>
              </a:ext>
            </a:extLst>
          </p:cNvPr>
          <p:cNvSpPr txBox="1"/>
          <p:nvPr/>
        </p:nvSpPr>
        <p:spPr>
          <a:xfrm>
            <a:off x="291305" y="4395408"/>
            <a:ext cx="5237193" cy="1524289"/>
          </a:xfrm>
          <a:prstGeom prst="rect">
            <a:avLst/>
          </a:prstGeom>
          <a:noFill/>
        </p:spPr>
        <p:txBody>
          <a:bodyPr wrap="square" rtlCol="0">
            <a:spAutoFit/>
          </a:bodyPr>
          <a:lstStyle/>
          <a:p>
            <a:pPr algn="l"/>
            <a:endParaRPr lang="en-US" dirty="0"/>
          </a:p>
        </p:txBody>
      </p:sp>
      <p:sp>
        <p:nvSpPr>
          <p:cNvPr id="12" name="Content Placeholder 3">
            <a:extLst>
              <a:ext uri="{FF2B5EF4-FFF2-40B4-BE49-F238E27FC236}">
                <a16:creationId xmlns:a16="http://schemas.microsoft.com/office/drawing/2014/main" id="{87F007A0-CD10-E546-53ED-43E437001B9F}"/>
              </a:ext>
            </a:extLst>
          </p:cNvPr>
          <p:cNvSpPr>
            <a:spLocks noGrp="1"/>
          </p:cNvSpPr>
          <p:nvPr>
            <p:ph sz="half" idx="1"/>
          </p:nvPr>
        </p:nvSpPr>
        <p:spPr>
          <a:xfrm>
            <a:off x="365387" y="3968991"/>
            <a:ext cx="5163111" cy="1950706"/>
          </a:xfrm>
        </p:spPr>
        <p:txBody>
          <a:bodyPr/>
          <a:lstStyle/>
          <a:p>
            <a:endParaRPr lang="en-US" b="1" dirty="0"/>
          </a:p>
          <a:p>
            <a:pPr marL="0" indent="0">
              <a:buNone/>
            </a:pPr>
            <a:r>
              <a:rPr lang="en-US" sz="2400" b="1" dirty="0"/>
              <a:t>We aim to:</a:t>
            </a:r>
          </a:p>
          <a:p>
            <a:r>
              <a:rPr lang="en-US" b="1" dirty="0"/>
              <a:t>Understand key factors influencing travel choices and booking habits within the provided dataset.</a:t>
            </a:r>
          </a:p>
          <a:p>
            <a:r>
              <a:rPr lang="en-US" b="1" dirty="0"/>
              <a:t>Specifically, we aim to provide actionable insights and visualizations to guide the development of an intuitive and personalized airline application.</a:t>
            </a:r>
          </a:p>
        </p:txBody>
      </p:sp>
      <p:pic>
        <p:nvPicPr>
          <p:cNvPr id="4" name="Picture 3">
            <a:extLst>
              <a:ext uri="{FF2B5EF4-FFF2-40B4-BE49-F238E27FC236}">
                <a16:creationId xmlns:a16="http://schemas.microsoft.com/office/drawing/2014/main" id="{1DCDB5AA-6918-6A22-2305-E2DDB57E288A}"/>
              </a:ext>
            </a:extLst>
          </p:cNvPr>
          <p:cNvPicPr>
            <a:picLocks noChangeAspect="1"/>
          </p:cNvPicPr>
          <p:nvPr/>
        </p:nvPicPr>
        <p:blipFill>
          <a:blip r:embed="rId3"/>
          <a:stretch>
            <a:fillRect/>
          </a:stretch>
        </p:blipFill>
        <p:spPr>
          <a:xfrm>
            <a:off x="10250624" y="5268205"/>
            <a:ext cx="1057831" cy="1057831"/>
          </a:xfrm>
          <a:prstGeom prst="rect">
            <a:avLst/>
          </a:prstGeom>
        </p:spPr>
      </p:pic>
    </p:spTree>
    <p:extLst>
      <p:ext uri="{BB962C8B-B14F-4D97-AF65-F5344CB8AC3E}">
        <p14:creationId xmlns:p14="http://schemas.microsoft.com/office/powerpoint/2010/main" val="1329746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2E7ADBC3-DECA-9F4C-9289-9E43C727592F}"/>
              </a:ext>
            </a:extLst>
          </p:cNvPr>
          <p:cNvPicPr>
            <a:picLocks noGrp="1" noChangeAspect="1"/>
          </p:cNvPicPr>
          <p:nvPr>
            <p:ph type="pic" sz="quarter" idx="10"/>
          </p:nvPr>
        </p:nvPicPr>
        <p:blipFill>
          <a:blip r:embed="rId2"/>
          <a:srcRect/>
          <a:stretch/>
        </p:blipFill>
        <p:spPr>
          <a:xfrm>
            <a:off x="288993" y="2742241"/>
            <a:ext cx="5783855" cy="3732563"/>
          </a:xfrm>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a:xfrm>
            <a:off x="-18026" y="874163"/>
            <a:ext cx="3180921" cy="987926"/>
          </a:xfrm>
        </p:spPr>
        <p:txBody>
          <a:bodyPr/>
          <a:lstStyle/>
          <a:p>
            <a:r>
              <a:rPr lang="en-US" sz="4400" dirty="0"/>
              <a:t>Section  One  </a:t>
            </a:r>
          </a:p>
        </p:txBody>
      </p:sp>
      <p:sp>
        <p:nvSpPr>
          <p:cNvPr id="14" name="Text Placeholder 13">
            <a:extLst>
              <a:ext uri="{FF2B5EF4-FFF2-40B4-BE49-F238E27FC236}">
                <a16:creationId xmlns:a16="http://schemas.microsoft.com/office/drawing/2014/main" id="{F278402B-CA7D-4F5B-B3FA-ED74AB3CFB6C}"/>
              </a:ext>
            </a:extLst>
          </p:cNvPr>
          <p:cNvSpPr>
            <a:spLocks noGrp="1"/>
          </p:cNvSpPr>
          <p:nvPr>
            <p:ph type="body" sz="quarter" idx="13"/>
          </p:nvPr>
        </p:nvSpPr>
        <p:spPr>
          <a:xfrm>
            <a:off x="-18026" y="1862089"/>
            <a:ext cx="5956300" cy="686277"/>
          </a:xfrm>
        </p:spPr>
        <p:txBody>
          <a:bodyPr/>
          <a:lstStyle/>
          <a:p>
            <a:r>
              <a:rPr lang="en-US" dirty="0"/>
              <a:t>Starting with visual representations of the given dataset.</a:t>
            </a:r>
          </a:p>
        </p:txBody>
      </p:sp>
      <p:sp>
        <p:nvSpPr>
          <p:cNvPr id="5" name="Slide Number Placeholder 4">
            <a:extLst>
              <a:ext uri="{FF2B5EF4-FFF2-40B4-BE49-F238E27FC236}">
                <a16:creationId xmlns:a16="http://schemas.microsoft.com/office/drawing/2014/main" id="{BDD5A594-D852-43BB-B591-E9D9027253BD}"/>
              </a:ext>
            </a:extLst>
          </p:cNvPr>
          <p:cNvSpPr>
            <a:spLocks noGrp="1"/>
          </p:cNvSpPr>
          <p:nvPr>
            <p:ph type="sldNum" sz="quarter" idx="12"/>
          </p:nvPr>
        </p:nvSpPr>
        <p:spPr>
          <a:solidFill>
            <a:schemeClr val="tx1">
              <a:lumMod val="95000"/>
              <a:lumOff val="5000"/>
            </a:schemeClr>
          </a:solidFill>
        </p:spPr>
        <p:txBody>
          <a:bodyPr/>
          <a:lstStyle/>
          <a:p>
            <a:fld id="{19B51A1E-902D-48AF-9020-955120F399B6}" type="slidenum">
              <a:rPr lang="en-US" smtClean="0"/>
              <a:pPr/>
              <a:t>3</a:t>
            </a:fld>
            <a:endParaRPr lang="en-US" dirty="0"/>
          </a:p>
        </p:txBody>
      </p:sp>
      <p:sp>
        <p:nvSpPr>
          <p:cNvPr id="10" name="TextBox 9">
            <a:extLst>
              <a:ext uri="{FF2B5EF4-FFF2-40B4-BE49-F238E27FC236}">
                <a16:creationId xmlns:a16="http://schemas.microsoft.com/office/drawing/2014/main" id="{8AF70508-1A10-D0DE-5B55-D8D1DE1C0182}"/>
              </a:ext>
            </a:extLst>
          </p:cNvPr>
          <p:cNvSpPr txBox="1"/>
          <p:nvPr/>
        </p:nvSpPr>
        <p:spPr>
          <a:xfrm>
            <a:off x="9945065" y="6390156"/>
            <a:ext cx="1668951" cy="39438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r>
              <a:rPr lang="en-US" b="0" i="0" spc="140" baseline="0" dirty="0">
                <a:solidFill>
                  <a:schemeClr val="tx1">
                    <a:lumMod val="75000"/>
                    <a:lumOff val="25000"/>
                  </a:schemeClr>
                </a:solidFill>
                <a:latin typeface="+mj-lt"/>
              </a:rPr>
              <a:t>research</a:t>
            </a:r>
          </a:p>
        </p:txBody>
      </p:sp>
      <p:pic>
        <p:nvPicPr>
          <p:cNvPr id="4" name="Picture Placeholder 10">
            <a:extLst>
              <a:ext uri="{FF2B5EF4-FFF2-40B4-BE49-F238E27FC236}">
                <a16:creationId xmlns:a16="http://schemas.microsoft.com/office/drawing/2014/main" id="{723D3388-A7B0-5B5C-8E73-F780E3BCD1AD}"/>
              </a:ext>
            </a:extLst>
          </p:cNvPr>
          <p:cNvPicPr>
            <a:picLocks noGrp="1" noChangeAspect="1"/>
          </p:cNvPicPr>
          <p:nvPr>
            <p:ph type="pic" sz="quarter" idx="10"/>
          </p:nvPr>
        </p:nvPicPr>
        <p:blipFill>
          <a:blip r:embed="rId3"/>
          <a:srcRect/>
          <a:stretch/>
        </p:blipFill>
        <p:spPr>
          <a:xfrm>
            <a:off x="6549795" y="501102"/>
            <a:ext cx="5426205" cy="3860728"/>
          </a:xfrm>
        </p:spPr>
      </p:pic>
      <p:sp>
        <p:nvSpPr>
          <p:cNvPr id="7" name="Rectangle 6">
            <a:extLst>
              <a:ext uri="{FF2B5EF4-FFF2-40B4-BE49-F238E27FC236}">
                <a16:creationId xmlns:a16="http://schemas.microsoft.com/office/drawing/2014/main" id="{790A2DF2-FADB-B0D9-A020-EB836463F482}"/>
              </a:ext>
              <a:ext uri="{C183D7F6-B498-43B3-948B-1728B52AA6E4}">
                <adec:decorative xmlns:adec="http://schemas.microsoft.com/office/drawing/2017/decorative" val="1"/>
              </a:ext>
            </a:extLst>
          </p:cNvPr>
          <p:cNvSpPr/>
          <p:nvPr/>
        </p:nvSpPr>
        <p:spPr>
          <a:xfrm>
            <a:off x="0" y="759339"/>
            <a:ext cx="3180920"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9" name="Title 2">
            <a:extLst>
              <a:ext uri="{FF2B5EF4-FFF2-40B4-BE49-F238E27FC236}">
                <a16:creationId xmlns:a16="http://schemas.microsoft.com/office/drawing/2014/main" id="{5243245B-E17D-3486-3BB9-88FB64DB30C8}"/>
              </a:ext>
            </a:extLst>
          </p:cNvPr>
          <p:cNvSpPr txBox="1">
            <a:spLocks/>
          </p:cNvSpPr>
          <p:nvPr/>
        </p:nvSpPr>
        <p:spPr>
          <a:xfrm>
            <a:off x="7681869" y="4909691"/>
            <a:ext cx="2111314" cy="796329"/>
          </a:xfrm>
          <a:prstGeom prst="rect">
            <a:avLst/>
          </a:prstGeom>
        </p:spPr>
        <p:style>
          <a:lnRef idx="2">
            <a:schemeClr val="accent1"/>
          </a:lnRef>
          <a:fillRef idx="1">
            <a:schemeClr val="lt1"/>
          </a:fillRef>
          <a:effectRef idx="0">
            <a:schemeClr val="accent1"/>
          </a:effectRef>
          <a:fontRef idx="minor">
            <a:schemeClr val="dk1"/>
          </a:fontRef>
        </p:style>
        <p:txBody>
          <a:bodyPr vert="horz" lIns="180000" tIns="180000" rIns="252000" bIns="180000" rtlCol="0" anchor="ctr">
            <a:noAutofit/>
          </a:bodyPr>
          <a:lstStyle>
            <a:lvl1pPr algn="r" defTabSz="914400" rtl="0" eaLnBrk="1" latinLnBrk="0" hangingPunct="1">
              <a:lnSpc>
                <a:spcPct val="90000"/>
              </a:lnSpc>
              <a:spcBef>
                <a:spcPct val="0"/>
              </a:spcBef>
              <a:buNone/>
              <a:defRPr lang="en-ZA" sz="6000" b="1" kern="1200" spc="-300" dirty="0">
                <a:solidFill>
                  <a:schemeClr val="tx1">
                    <a:lumMod val="75000"/>
                    <a:lumOff val="25000"/>
                  </a:schemeClr>
                </a:solidFill>
                <a:latin typeface="+mj-lt"/>
                <a:ea typeface="+mj-ea"/>
                <a:cs typeface="+mj-cs"/>
              </a:defRPr>
            </a:lvl1pPr>
          </a:lstStyle>
          <a:p>
            <a:pPr algn="ctr"/>
            <a:r>
              <a:rPr lang="en-US" sz="3200" dirty="0"/>
              <a:t>ANALYSIS</a:t>
            </a:r>
            <a:r>
              <a:rPr lang="en-US" sz="4400" dirty="0"/>
              <a:t> </a:t>
            </a:r>
          </a:p>
        </p:txBody>
      </p:sp>
    </p:spTree>
    <p:extLst>
      <p:ext uri="{BB962C8B-B14F-4D97-AF65-F5344CB8AC3E}">
        <p14:creationId xmlns:p14="http://schemas.microsoft.com/office/powerpoint/2010/main" val="4091674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a:extLst>
              <a:ext uri="{FF2B5EF4-FFF2-40B4-BE49-F238E27FC236}">
                <a16:creationId xmlns:a16="http://schemas.microsoft.com/office/drawing/2014/main" id="{7E468295-904F-0743-AD06-67DA21353B9E}"/>
              </a:ext>
            </a:extLst>
          </p:cNvPr>
          <p:cNvPicPr>
            <a:picLocks noGrp="1" noChangeAspect="1"/>
          </p:cNvPicPr>
          <p:nvPr>
            <p:ph type="pic" sz="quarter" idx="14"/>
          </p:nvPr>
        </p:nvPicPr>
        <p:blipFill rotWithShape="1">
          <a:blip r:embed="rId2"/>
          <a:srcRect/>
          <a:stretch/>
        </p:blipFill>
        <p:spPr>
          <a:xfrm>
            <a:off x="131723" y="2370483"/>
            <a:ext cx="11628276" cy="4155570"/>
          </a:xfrm>
        </p:spPr>
      </p:pic>
      <p:sp>
        <p:nvSpPr>
          <p:cNvPr id="20" name="Rectangle 19">
            <a:extLst>
              <a:ext uri="{FF2B5EF4-FFF2-40B4-BE49-F238E27FC236}">
                <a16:creationId xmlns:a16="http://schemas.microsoft.com/office/drawing/2014/main" id="{EFA08948-2B6F-46B1-9D2D-8D7B2B3FBD56}"/>
              </a:ext>
              <a:ext uri="{C183D7F6-B498-43B3-948B-1728B52AA6E4}">
                <adec:decorative xmlns:adec="http://schemas.microsoft.com/office/drawing/2017/decorative" val="1"/>
              </a:ext>
            </a:extLst>
          </p:cNvPr>
          <p:cNvSpPr/>
          <p:nvPr/>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10112765" y="1145046"/>
            <a:ext cx="1647234" cy="603013"/>
          </a:xfrm>
        </p:spPr>
        <p:txBody>
          <a:bodyPr/>
          <a:lstStyle/>
          <a:p>
            <a:pPr algn="r"/>
            <a:r>
              <a:rPr lang="en-US" sz="3600" dirty="0"/>
              <a:t>Insights</a:t>
            </a:r>
            <a:r>
              <a:rPr lang="en-US" dirty="0"/>
              <a:t> </a:t>
            </a:r>
          </a:p>
        </p:txBody>
      </p:sp>
      <p:sp>
        <p:nvSpPr>
          <p:cNvPr id="3" name="Text Placeholder 2">
            <a:extLst>
              <a:ext uri="{FF2B5EF4-FFF2-40B4-BE49-F238E27FC236}">
                <a16:creationId xmlns:a16="http://schemas.microsoft.com/office/drawing/2014/main" id="{611DC577-0A95-47D0-95D9-5F8DA763D46B}"/>
              </a:ext>
            </a:extLst>
          </p:cNvPr>
          <p:cNvSpPr>
            <a:spLocks noGrp="1"/>
          </p:cNvSpPr>
          <p:nvPr>
            <p:ph type="body" sz="quarter" idx="32"/>
          </p:nvPr>
        </p:nvSpPr>
        <p:spPr>
          <a:xfrm>
            <a:off x="694541" y="384523"/>
            <a:ext cx="5750598" cy="494318"/>
          </a:xfrm>
        </p:spPr>
        <p:txBody>
          <a:bodyPr anchor="ctr"/>
          <a:lstStyle/>
          <a:p>
            <a:r>
              <a:rPr lang="en-US" sz="2400" b="1" dirty="0">
                <a:effectLst/>
              </a:rPr>
              <a:t>Bookings by Age Group Distribution.</a:t>
            </a:r>
            <a:endParaRPr lang="en-US" sz="2400" b="1" dirty="0"/>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694541" y="1125636"/>
            <a:ext cx="8550049" cy="1244847"/>
          </a:xfrm>
        </p:spPr>
        <p:txBody>
          <a:bodyPr/>
          <a:lstStyle/>
          <a:p>
            <a:r>
              <a:rPr lang="en-US" sz="1400" b="1" i="0" dirty="0">
                <a:solidFill>
                  <a:srgbClr val="1F1F1F"/>
                </a:solidFill>
                <a:effectLst/>
                <a:latin typeface="Roboto" panose="02000000000000000000" pitchFamily="2" charset="0"/>
              </a:rPr>
              <a:t>Age Group Distribution: The count plot of travels by age group and the histogram of customer age distribution show the age range of the customers and which age groups travel the most. The 58-62 age group appears to have the highest number of travels.</a:t>
            </a:r>
          </a:p>
          <a:p>
            <a:r>
              <a:rPr lang="en-US" sz="1400" b="1" i="0" dirty="0">
                <a:solidFill>
                  <a:srgbClr val="1F1F1F"/>
                </a:solidFill>
                <a:effectLst/>
                <a:latin typeface="Roboto" panose="02000000000000000000" pitchFamily="2" charset="0"/>
              </a:rPr>
              <a:t>Age Group Preferences: The grouped bar chart of preferred destinations by age group reveals that different age groups have varying preferences for destinations. This insight can be valuable for targeted marketing.</a:t>
            </a:r>
          </a:p>
          <a:p>
            <a:pPr marL="0" indent="0" algn="r">
              <a:buNone/>
            </a:pPr>
            <a:endParaRPr lang="en-US" sz="1400" dirty="0"/>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4</a:t>
            </a:fld>
            <a:endParaRPr lang="en-US" dirty="0"/>
          </a:p>
        </p:txBody>
      </p:sp>
      <p:sp>
        <p:nvSpPr>
          <p:cNvPr id="10" name="TextBox 9">
            <a:extLst>
              <a:ext uri="{FF2B5EF4-FFF2-40B4-BE49-F238E27FC236}">
                <a16:creationId xmlns:a16="http://schemas.microsoft.com/office/drawing/2014/main" id="{42A2903A-6B62-4646-5BC7-447F44B11906}"/>
              </a:ext>
            </a:extLst>
          </p:cNvPr>
          <p:cNvSpPr txBox="1"/>
          <p:nvPr/>
        </p:nvSpPr>
        <p:spPr>
          <a:xfrm>
            <a:off x="9945065" y="6390156"/>
            <a:ext cx="1668951" cy="39438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r>
              <a:rPr lang="en-US" b="0" i="0" spc="140" baseline="0" dirty="0">
                <a:solidFill>
                  <a:schemeClr val="tx1">
                    <a:lumMod val="75000"/>
                    <a:lumOff val="25000"/>
                  </a:schemeClr>
                </a:solidFill>
                <a:latin typeface="+mj-lt"/>
              </a:rPr>
              <a:t>research</a:t>
            </a:r>
          </a:p>
        </p:txBody>
      </p:sp>
      <p:pic>
        <p:nvPicPr>
          <p:cNvPr id="7" name="Picture 6">
            <a:extLst>
              <a:ext uri="{FF2B5EF4-FFF2-40B4-BE49-F238E27FC236}">
                <a16:creationId xmlns:a16="http://schemas.microsoft.com/office/drawing/2014/main" id="{0E4AFFB8-2FA8-A1F4-A2F6-E5A4A761144D}"/>
              </a:ext>
            </a:extLst>
          </p:cNvPr>
          <p:cNvPicPr>
            <a:picLocks noChangeAspect="1"/>
          </p:cNvPicPr>
          <p:nvPr/>
        </p:nvPicPr>
        <p:blipFill>
          <a:blip r:embed="rId3"/>
          <a:stretch>
            <a:fillRect/>
          </a:stretch>
        </p:blipFill>
        <p:spPr>
          <a:xfrm>
            <a:off x="10245503" y="5362529"/>
            <a:ext cx="1068073" cy="1068073"/>
          </a:xfrm>
          <a:prstGeom prst="rect">
            <a:avLst/>
          </a:prstGeom>
        </p:spPr>
      </p:pic>
    </p:spTree>
    <p:extLst>
      <p:ext uri="{BB962C8B-B14F-4D97-AF65-F5344CB8AC3E}">
        <p14:creationId xmlns:p14="http://schemas.microsoft.com/office/powerpoint/2010/main" val="722098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a:extLst>
              <a:ext uri="{FF2B5EF4-FFF2-40B4-BE49-F238E27FC236}">
                <a16:creationId xmlns:a16="http://schemas.microsoft.com/office/drawing/2014/main" id="{7E468295-904F-0743-AD06-67DA21353B9E}"/>
              </a:ext>
            </a:extLst>
          </p:cNvPr>
          <p:cNvPicPr>
            <a:picLocks noGrp="1" noChangeAspect="1"/>
          </p:cNvPicPr>
          <p:nvPr>
            <p:ph type="pic" sz="quarter" idx="14"/>
          </p:nvPr>
        </p:nvPicPr>
        <p:blipFill rotWithShape="1">
          <a:blip r:embed="rId2"/>
          <a:srcRect/>
          <a:stretch/>
        </p:blipFill>
        <p:spPr>
          <a:xfrm>
            <a:off x="1209405" y="267872"/>
            <a:ext cx="7496315" cy="2988394"/>
          </a:xfrm>
        </p:spPr>
      </p:pic>
      <p:sp>
        <p:nvSpPr>
          <p:cNvPr id="20" name="Rectangle 19">
            <a:extLst>
              <a:ext uri="{FF2B5EF4-FFF2-40B4-BE49-F238E27FC236}">
                <a16:creationId xmlns:a16="http://schemas.microsoft.com/office/drawing/2014/main" id="{EFA08948-2B6F-46B1-9D2D-8D7B2B3FBD56}"/>
              </a:ext>
              <a:ext uri="{C183D7F6-B498-43B3-948B-1728B52AA6E4}">
                <adec:decorative xmlns:adec="http://schemas.microsoft.com/office/drawing/2017/decorative" val="1"/>
              </a:ext>
            </a:extLst>
          </p:cNvPr>
          <p:cNvSpPr/>
          <p:nvPr/>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10112766" y="1869795"/>
            <a:ext cx="1647234" cy="603013"/>
          </a:xfrm>
        </p:spPr>
        <p:txBody>
          <a:bodyPr/>
          <a:lstStyle/>
          <a:p>
            <a:pPr algn="r"/>
            <a:r>
              <a:rPr lang="en-US" sz="3600" dirty="0"/>
              <a:t>Insights</a:t>
            </a:r>
            <a:r>
              <a:rPr lang="en-US" dirty="0"/>
              <a:t> </a:t>
            </a:r>
          </a:p>
        </p:txBody>
      </p:sp>
      <p:sp>
        <p:nvSpPr>
          <p:cNvPr id="3" name="Text Placeholder 2">
            <a:extLst>
              <a:ext uri="{FF2B5EF4-FFF2-40B4-BE49-F238E27FC236}">
                <a16:creationId xmlns:a16="http://schemas.microsoft.com/office/drawing/2014/main" id="{611DC577-0A95-47D0-95D9-5F8DA763D46B}"/>
              </a:ext>
            </a:extLst>
          </p:cNvPr>
          <p:cNvSpPr>
            <a:spLocks noGrp="1"/>
          </p:cNvSpPr>
          <p:nvPr>
            <p:ph type="body" sz="quarter" idx="32"/>
          </p:nvPr>
        </p:nvSpPr>
        <p:spPr>
          <a:xfrm rot="16200000">
            <a:off x="-2429333" y="3218955"/>
            <a:ext cx="5750598" cy="554193"/>
          </a:xfrm>
        </p:spPr>
        <p:txBody>
          <a:bodyPr anchor="ctr"/>
          <a:lstStyle/>
          <a:p>
            <a:r>
              <a:rPr lang="en-US" sz="2400" b="1" dirty="0">
                <a:effectLst/>
              </a:rPr>
              <a:t>Monthly Travel Trends by Travel Type</a:t>
            </a:r>
            <a:endParaRPr lang="en-US" sz="2400" b="1" dirty="0"/>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8262651" y="2677204"/>
            <a:ext cx="3483382" cy="3533699"/>
          </a:xfrm>
        </p:spPr>
        <p:txBody>
          <a:bodyPr/>
          <a:lstStyle/>
          <a:p>
            <a:r>
              <a:rPr lang="en-US" sz="1400" b="1" i="0" dirty="0">
                <a:solidFill>
                  <a:srgbClr val="1F1F1F"/>
                </a:solidFill>
                <a:effectLst/>
              </a:rPr>
              <a:t>Overall Trends:</a:t>
            </a:r>
            <a:r>
              <a:rPr lang="en-US" sz="1400" b="0" i="0" dirty="0">
                <a:solidFill>
                  <a:srgbClr val="1F1F1F"/>
                </a:solidFill>
                <a:effectLst/>
              </a:rPr>
              <a:t> Both business and leisure travel show variations throughout the year.</a:t>
            </a:r>
          </a:p>
          <a:p>
            <a:r>
              <a:rPr lang="en-US" sz="1400" b="1" i="0" dirty="0">
                <a:solidFill>
                  <a:srgbClr val="1F1F1F"/>
                </a:solidFill>
                <a:effectLst/>
              </a:rPr>
              <a:t>Peak Months:</a:t>
            </a:r>
            <a:r>
              <a:rPr lang="en-US" sz="1400" b="0" i="0" dirty="0">
                <a:solidFill>
                  <a:srgbClr val="1F1F1F"/>
                </a:solidFill>
                <a:effectLst/>
              </a:rPr>
              <a:t> February appears to be a peak month for leisure travel, while business travel seems to have a few peaks throughout the year, including February and November.</a:t>
            </a:r>
          </a:p>
          <a:p>
            <a:r>
              <a:rPr lang="en-US" sz="1400" b="1" i="0" dirty="0">
                <a:solidFill>
                  <a:srgbClr val="1F1F1F"/>
                </a:solidFill>
                <a:effectLst/>
              </a:rPr>
              <a:t>Low Months:</a:t>
            </a:r>
            <a:r>
              <a:rPr lang="en-US" sz="1400" b="0" i="0" dirty="0">
                <a:solidFill>
                  <a:srgbClr val="1F1F1F"/>
                </a:solidFill>
                <a:effectLst/>
              </a:rPr>
              <a:t> March seems to be a low month for both business and leisure travel.</a:t>
            </a:r>
          </a:p>
          <a:p>
            <a:r>
              <a:rPr lang="en-US" sz="1400" b="1" i="0" dirty="0">
                <a:solidFill>
                  <a:srgbClr val="1F1F1F"/>
                </a:solidFill>
                <a:effectLst/>
              </a:rPr>
              <a:t>Relative Popularity:</a:t>
            </a:r>
            <a:r>
              <a:rPr lang="en-US" sz="1400" b="0" i="0" dirty="0">
                <a:solidFill>
                  <a:srgbClr val="1F1F1F"/>
                </a:solidFill>
                <a:effectLst/>
              </a:rPr>
              <a:t> Throughout most of the year, leisure travel appears to have a slightly higher number of bookings compared to business travel, although there are months where business bookings are comparable or slightly higher.</a:t>
            </a:r>
          </a:p>
          <a:p>
            <a:pPr marL="0" indent="0" algn="r">
              <a:buNone/>
            </a:pPr>
            <a:endParaRPr lang="en-US" sz="1400" dirty="0"/>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5</a:t>
            </a:fld>
            <a:endParaRPr lang="en-US" dirty="0"/>
          </a:p>
        </p:txBody>
      </p:sp>
      <p:sp>
        <p:nvSpPr>
          <p:cNvPr id="10" name="TextBox 9">
            <a:extLst>
              <a:ext uri="{FF2B5EF4-FFF2-40B4-BE49-F238E27FC236}">
                <a16:creationId xmlns:a16="http://schemas.microsoft.com/office/drawing/2014/main" id="{42A2903A-6B62-4646-5BC7-447F44B11906}"/>
              </a:ext>
            </a:extLst>
          </p:cNvPr>
          <p:cNvSpPr txBox="1"/>
          <p:nvPr/>
        </p:nvSpPr>
        <p:spPr>
          <a:xfrm>
            <a:off x="9945065" y="6390156"/>
            <a:ext cx="1668951" cy="39438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r>
              <a:rPr lang="en-US" b="0" i="0" spc="140" baseline="0" dirty="0">
                <a:solidFill>
                  <a:schemeClr val="tx1">
                    <a:lumMod val="75000"/>
                    <a:lumOff val="25000"/>
                  </a:schemeClr>
                </a:solidFill>
                <a:latin typeface="+mj-lt"/>
              </a:rPr>
              <a:t>research</a:t>
            </a:r>
          </a:p>
        </p:txBody>
      </p:sp>
      <p:pic>
        <p:nvPicPr>
          <p:cNvPr id="7" name="Picture Placeholder 13">
            <a:extLst>
              <a:ext uri="{FF2B5EF4-FFF2-40B4-BE49-F238E27FC236}">
                <a16:creationId xmlns:a16="http://schemas.microsoft.com/office/drawing/2014/main" id="{9FF6B909-CF85-3EF6-B27D-EAB14312560D}"/>
              </a:ext>
            </a:extLst>
          </p:cNvPr>
          <p:cNvPicPr>
            <a:picLocks noChangeAspect="1"/>
          </p:cNvPicPr>
          <p:nvPr/>
        </p:nvPicPr>
        <p:blipFill rotWithShape="1">
          <a:blip r:embed="rId3"/>
          <a:srcRect/>
          <a:stretch/>
        </p:blipFill>
        <p:spPr>
          <a:xfrm>
            <a:off x="1238734" y="3177265"/>
            <a:ext cx="6388172" cy="3194086"/>
          </a:xfrm>
          <a:prstGeom prst="rect">
            <a:avLst/>
          </a:prstGeom>
          <a:solidFill>
            <a:schemeClr val="bg1">
              <a:lumMod val="95000"/>
            </a:schemeClr>
          </a:solidFill>
        </p:spPr>
      </p:pic>
      <p:pic>
        <p:nvPicPr>
          <p:cNvPr id="9" name="Picture Placeholder 13">
            <a:extLst>
              <a:ext uri="{FF2B5EF4-FFF2-40B4-BE49-F238E27FC236}">
                <a16:creationId xmlns:a16="http://schemas.microsoft.com/office/drawing/2014/main" id="{80CA16D0-C378-E66F-9B58-B9CB8CE707A4}"/>
              </a:ext>
            </a:extLst>
          </p:cNvPr>
          <p:cNvPicPr>
            <a:picLocks noChangeAspect="1"/>
          </p:cNvPicPr>
          <p:nvPr/>
        </p:nvPicPr>
        <p:blipFill rotWithShape="1">
          <a:blip r:embed="rId4"/>
          <a:srcRect/>
          <a:stretch/>
        </p:blipFill>
        <p:spPr>
          <a:xfrm>
            <a:off x="8720605" y="267872"/>
            <a:ext cx="2110437" cy="1406958"/>
          </a:xfrm>
          <a:prstGeom prst="rect">
            <a:avLst/>
          </a:prstGeom>
          <a:solidFill>
            <a:schemeClr val="bg1">
              <a:lumMod val="95000"/>
            </a:schemeClr>
          </a:solidFill>
        </p:spPr>
      </p:pic>
      <p:sp>
        <p:nvSpPr>
          <p:cNvPr id="12" name="Content Placeholder 3">
            <a:extLst>
              <a:ext uri="{FF2B5EF4-FFF2-40B4-BE49-F238E27FC236}">
                <a16:creationId xmlns:a16="http://schemas.microsoft.com/office/drawing/2014/main" id="{3EF463B1-99DB-5C04-34B4-5C644B08546D}"/>
              </a:ext>
            </a:extLst>
          </p:cNvPr>
          <p:cNvSpPr txBox="1">
            <a:spLocks/>
          </p:cNvSpPr>
          <p:nvPr/>
        </p:nvSpPr>
        <p:spPr>
          <a:xfrm>
            <a:off x="10767911" y="401158"/>
            <a:ext cx="1131394" cy="1181658"/>
          </a:xfrm>
          <a:prstGeom prst="rect">
            <a:avLst/>
          </a:prstGeom>
        </p:spPr>
        <p:txBody>
          <a:bodyPr vert="horz" lIns="0" tIns="0" rIns="0" bIns="0" rtlCol="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solidFill>
                  <a:srgbClr val="1F1F1F"/>
                </a:solidFill>
              </a:rPr>
              <a:t>This shows that Customers travel more for Leisure than Business</a:t>
            </a:r>
            <a:r>
              <a:rPr lang="en-US" sz="1400" dirty="0">
                <a:solidFill>
                  <a:srgbClr val="1F1F1F"/>
                </a:solidFill>
              </a:rPr>
              <a:t>.</a:t>
            </a:r>
          </a:p>
          <a:p>
            <a:pPr marL="0" indent="0" algn="r">
              <a:buFont typeface="Arial" panose="020B0604020202020204" pitchFamily="34" charset="0"/>
              <a:buNone/>
            </a:pPr>
            <a:endParaRPr lang="en-US" sz="1400" dirty="0"/>
          </a:p>
        </p:txBody>
      </p:sp>
    </p:spTree>
    <p:extLst>
      <p:ext uri="{BB962C8B-B14F-4D97-AF65-F5344CB8AC3E}">
        <p14:creationId xmlns:p14="http://schemas.microsoft.com/office/powerpoint/2010/main" val="719276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a:extLst>
              <a:ext uri="{FF2B5EF4-FFF2-40B4-BE49-F238E27FC236}">
                <a16:creationId xmlns:a16="http://schemas.microsoft.com/office/drawing/2014/main" id="{7E468295-904F-0743-AD06-67DA21353B9E}"/>
              </a:ext>
            </a:extLst>
          </p:cNvPr>
          <p:cNvPicPr>
            <a:picLocks noGrp="1" noChangeAspect="1"/>
          </p:cNvPicPr>
          <p:nvPr>
            <p:ph type="pic" sz="quarter" idx="14"/>
          </p:nvPr>
        </p:nvPicPr>
        <p:blipFill rotWithShape="1">
          <a:blip r:embed="rId2"/>
          <a:srcRect/>
          <a:stretch/>
        </p:blipFill>
        <p:spPr>
          <a:xfrm>
            <a:off x="1238734" y="186738"/>
            <a:ext cx="6101853" cy="3050927"/>
          </a:xfrm>
        </p:spPr>
      </p:pic>
      <p:sp>
        <p:nvSpPr>
          <p:cNvPr id="20" name="Rectangle 19">
            <a:extLst>
              <a:ext uri="{FF2B5EF4-FFF2-40B4-BE49-F238E27FC236}">
                <a16:creationId xmlns:a16="http://schemas.microsoft.com/office/drawing/2014/main" id="{EFA08948-2B6F-46B1-9D2D-8D7B2B3FBD56}"/>
              </a:ext>
              <a:ext uri="{C183D7F6-B498-43B3-948B-1728B52AA6E4}">
                <adec:decorative xmlns:adec="http://schemas.microsoft.com/office/drawing/2017/decorative" val="1"/>
              </a:ext>
            </a:extLst>
          </p:cNvPr>
          <p:cNvSpPr/>
          <p:nvPr/>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10112766" y="1869795"/>
            <a:ext cx="1647234" cy="603013"/>
          </a:xfrm>
        </p:spPr>
        <p:txBody>
          <a:bodyPr/>
          <a:lstStyle/>
          <a:p>
            <a:pPr algn="r"/>
            <a:r>
              <a:rPr lang="en-US" sz="3600" dirty="0"/>
              <a:t>Insights</a:t>
            </a:r>
            <a:r>
              <a:rPr lang="en-US" dirty="0"/>
              <a:t> </a:t>
            </a:r>
          </a:p>
        </p:txBody>
      </p:sp>
      <p:sp>
        <p:nvSpPr>
          <p:cNvPr id="3" name="Text Placeholder 2">
            <a:extLst>
              <a:ext uri="{FF2B5EF4-FFF2-40B4-BE49-F238E27FC236}">
                <a16:creationId xmlns:a16="http://schemas.microsoft.com/office/drawing/2014/main" id="{611DC577-0A95-47D0-95D9-5F8DA763D46B}"/>
              </a:ext>
            </a:extLst>
          </p:cNvPr>
          <p:cNvSpPr>
            <a:spLocks noGrp="1"/>
          </p:cNvSpPr>
          <p:nvPr>
            <p:ph type="body" sz="quarter" idx="32"/>
          </p:nvPr>
        </p:nvSpPr>
        <p:spPr>
          <a:xfrm rot="16200000">
            <a:off x="-2359230" y="2840862"/>
            <a:ext cx="5750598" cy="554193"/>
          </a:xfrm>
        </p:spPr>
        <p:txBody>
          <a:bodyPr anchor="ctr"/>
          <a:lstStyle/>
          <a:p>
            <a:pPr algn="ctr"/>
            <a:r>
              <a:rPr lang="en-US" sz="2400" b="1" dirty="0">
                <a:effectLst/>
              </a:rPr>
              <a:t>Bookings by Payment Method</a:t>
            </a:r>
            <a:endParaRPr lang="en-US" sz="2400" b="1" dirty="0"/>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7620742" y="3117958"/>
            <a:ext cx="4402389" cy="3175528"/>
          </a:xfrm>
        </p:spPr>
        <p:txBody>
          <a:bodyPr/>
          <a:lstStyle/>
          <a:p>
            <a:r>
              <a:rPr lang="en-US" sz="1400" b="1" i="0" dirty="0">
                <a:solidFill>
                  <a:srgbClr val="1F1F1F"/>
                </a:solidFill>
                <a:effectLst/>
              </a:rPr>
              <a:t>Payment Method Distribution: The bar plot of the distribution of payment methods indicates the most frequently used payment methods. Bank Transfer, Crypto, and PayPal are the most common payment methods.
Payment Method by Travel Type, Destination, and Age Group: The grouped bar charts exploring payment methods by travel type, destination, and age group provide insights into whether certain payment methods are preferred for specific travel types, destinations, or by particular age groups. For example, Bank Transfer and Paypal are more popular for business travel, while Credit Card and PayPal are more popular for leisure travel.</a:t>
            </a:r>
          </a:p>
          <a:p>
            <a:pPr marL="0" indent="0" algn="r">
              <a:buNone/>
            </a:pPr>
            <a:endParaRPr lang="en-US" sz="1400" dirty="0"/>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6</a:t>
            </a:fld>
            <a:endParaRPr lang="en-US" dirty="0"/>
          </a:p>
        </p:txBody>
      </p:sp>
      <p:sp>
        <p:nvSpPr>
          <p:cNvPr id="10" name="TextBox 9">
            <a:extLst>
              <a:ext uri="{FF2B5EF4-FFF2-40B4-BE49-F238E27FC236}">
                <a16:creationId xmlns:a16="http://schemas.microsoft.com/office/drawing/2014/main" id="{42A2903A-6B62-4646-5BC7-447F44B11906}"/>
              </a:ext>
            </a:extLst>
          </p:cNvPr>
          <p:cNvSpPr txBox="1"/>
          <p:nvPr/>
        </p:nvSpPr>
        <p:spPr>
          <a:xfrm>
            <a:off x="9945065" y="6390156"/>
            <a:ext cx="1668951" cy="39438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r>
              <a:rPr lang="en-US" b="0" i="0" spc="140" baseline="0" dirty="0">
                <a:solidFill>
                  <a:schemeClr val="tx1">
                    <a:lumMod val="75000"/>
                    <a:lumOff val="25000"/>
                  </a:schemeClr>
                </a:solidFill>
                <a:latin typeface="+mj-lt"/>
              </a:rPr>
              <a:t>research</a:t>
            </a:r>
          </a:p>
        </p:txBody>
      </p:sp>
      <p:pic>
        <p:nvPicPr>
          <p:cNvPr id="7" name="Picture Placeholder 13">
            <a:extLst>
              <a:ext uri="{FF2B5EF4-FFF2-40B4-BE49-F238E27FC236}">
                <a16:creationId xmlns:a16="http://schemas.microsoft.com/office/drawing/2014/main" id="{9FF6B909-CF85-3EF6-B27D-EAB14312560D}"/>
              </a:ext>
            </a:extLst>
          </p:cNvPr>
          <p:cNvPicPr>
            <a:picLocks noChangeAspect="1"/>
          </p:cNvPicPr>
          <p:nvPr/>
        </p:nvPicPr>
        <p:blipFill rotWithShape="1">
          <a:blip r:embed="rId3"/>
          <a:srcRect/>
          <a:stretch/>
        </p:blipFill>
        <p:spPr>
          <a:xfrm>
            <a:off x="1238734" y="3233212"/>
            <a:ext cx="6276278" cy="3138139"/>
          </a:xfrm>
          <a:prstGeom prst="rect">
            <a:avLst/>
          </a:prstGeom>
          <a:solidFill>
            <a:schemeClr val="bg1">
              <a:lumMod val="95000"/>
            </a:schemeClr>
          </a:solidFill>
        </p:spPr>
      </p:pic>
      <p:pic>
        <p:nvPicPr>
          <p:cNvPr id="9" name="Picture Placeholder 13">
            <a:extLst>
              <a:ext uri="{FF2B5EF4-FFF2-40B4-BE49-F238E27FC236}">
                <a16:creationId xmlns:a16="http://schemas.microsoft.com/office/drawing/2014/main" id="{80CA16D0-C378-E66F-9B58-B9CB8CE707A4}"/>
              </a:ext>
            </a:extLst>
          </p:cNvPr>
          <p:cNvPicPr>
            <a:picLocks noChangeAspect="1"/>
          </p:cNvPicPr>
          <p:nvPr/>
        </p:nvPicPr>
        <p:blipFill rotWithShape="1">
          <a:blip r:embed="rId4"/>
          <a:srcRect/>
          <a:stretch/>
        </p:blipFill>
        <p:spPr>
          <a:xfrm>
            <a:off x="7427830" y="186738"/>
            <a:ext cx="2110437" cy="1319023"/>
          </a:xfrm>
          <a:prstGeom prst="rect">
            <a:avLst/>
          </a:prstGeom>
          <a:solidFill>
            <a:schemeClr val="bg1">
              <a:lumMod val="95000"/>
            </a:schemeClr>
          </a:solidFill>
        </p:spPr>
      </p:pic>
      <p:sp>
        <p:nvSpPr>
          <p:cNvPr id="12" name="Content Placeholder 3">
            <a:extLst>
              <a:ext uri="{FF2B5EF4-FFF2-40B4-BE49-F238E27FC236}">
                <a16:creationId xmlns:a16="http://schemas.microsoft.com/office/drawing/2014/main" id="{3EF463B1-99DB-5C04-34B4-5C644B08546D}"/>
              </a:ext>
            </a:extLst>
          </p:cNvPr>
          <p:cNvSpPr txBox="1">
            <a:spLocks/>
          </p:cNvSpPr>
          <p:nvPr/>
        </p:nvSpPr>
        <p:spPr>
          <a:xfrm>
            <a:off x="9516362" y="416312"/>
            <a:ext cx="2459638" cy="1042707"/>
          </a:xfrm>
          <a:prstGeom prst="rect">
            <a:avLst/>
          </a:prstGeom>
        </p:spPr>
        <p:txBody>
          <a:bodyPr vert="horz" lIns="0" tIns="0" rIns="0" bIns="0" rtlCol="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solidFill>
                  <a:srgbClr val="1F1F1F"/>
                </a:solidFill>
              </a:rPr>
              <a:t>Bank Transfer, Paypal, and Crypto are more popular for business travel, while Credit Card and PayPal are more popular for leisure travel. Although Bank Transfer also shows high usage in leisure travel as well.</a:t>
            </a:r>
          </a:p>
          <a:p>
            <a:pPr marL="0" indent="0" algn="r">
              <a:buFont typeface="Arial" panose="020B0604020202020204" pitchFamily="34" charset="0"/>
              <a:buNone/>
            </a:pPr>
            <a:endParaRPr lang="en-US" sz="1400" dirty="0"/>
          </a:p>
        </p:txBody>
      </p:sp>
      <p:pic>
        <p:nvPicPr>
          <p:cNvPr id="8" name="Picture Placeholder 13">
            <a:extLst>
              <a:ext uri="{FF2B5EF4-FFF2-40B4-BE49-F238E27FC236}">
                <a16:creationId xmlns:a16="http://schemas.microsoft.com/office/drawing/2014/main" id="{D2E34BEC-F57F-A5DD-48F5-7BB3BC6DA23E}"/>
              </a:ext>
            </a:extLst>
          </p:cNvPr>
          <p:cNvPicPr>
            <a:picLocks noChangeAspect="1"/>
          </p:cNvPicPr>
          <p:nvPr/>
        </p:nvPicPr>
        <p:blipFill rotWithShape="1">
          <a:blip r:embed="rId5"/>
          <a:srcRect/>
          <a:stretch/>
        </p:blipFill>
        <p:spPr>
          <a:xfrm>
            <a:off x="7515012" y="1582816"/>
            <a:ext cx="2110437" cy="1266262"/>
          </a:xfrm>
          <a:prstGeom prst="rect">
            <a:avLst/>
          </a:prstGeom>
          <a:solidFill>
            <a:schemeClr val="bg1">
              <a:lumMod val="95000"/>
            </a:schemeClr>
          </a:solidFill>
        </p:spPr>
      </p:pic>
      <p:pic>
        <p:nvPicPr>
          <p:cNvPr id="11" name="Picture 10">
            <a:extLst>
              <a:ext uri="{FF2B5EF4-FFF2-40B4-BE49-F238E27FC236}">
                <a16:creationId xmlns:a16="http://schemas.microsoft.com/office/drawing/2014/main" id="{306DE857-89B2-FF89-3B82-5F87E41DF5E7}"/>
              </a:ext>
            </a:extLst>
          </p:cNvPr>
          <p:cNvPicPr>
            <a:picLocks noChangeAspect="1"/>
          </p:cNvPicPr>
          <p:nvPr/>
        </p:nvPicPr>
        <p:blipFill>
          <a:blip r:embed="rId6"/>
          <a:stretch>
            <a:fillRect/>
          </a:stretch>
        </p:blipFill>
        <p:spPr>
          <a:xfrm>
            <a:off x="10401405" y="5700604"/>
            <a:ext cx="689552" cy="689552"/>
          </a:xfrm>
          <a:prstGeom prst="rect">
            <a:avLst/>
          </a:prstGeom>
        </p:spPr>
      </p:pic>
    </p:spTree>
    <p:extLst>
      <p:ext uri="{BB962C8B-B14F-4D97-AF65-F5344CB8AC3E}">
        <p14:creationId xmlns:p14="http://schemas.microsoft.com/office/powerpoint/2010/main" val="3215751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p:txBody>
          <a:bodyPr/>
          <a:lstStyle/>
          <a:p>
            <a:r>
              <a:rPr lang="en-US" dirty="0"/>
              <a:t>Section Two</a:t>
            </a:r>
          </a:p>
        </p:txBody>
      </p:sp>
      <p:sp>
        <p:nvSpPr>
          <p:cNvPr id="5" name="Slide Number Placeholder 4">
            <a:extLst>
              <a:ext uri="{FF2B5EF4-FFF2-40B4-BE49-F238E27FC236}">
                <a16:creationId xmlns:a16="http://schemas.microsoft.com/office/drawing/2014/main" id="{F6964141-6F81-4947-A236-746D94ED3F6F}"/>
              </a:ext>
            </a:extLst>
          </p:cNvPr>
          <p:cNvSpPr>
            <a:spLocks noGrp="1"/>
          </p:cNvSpPr>
          <p:nvPr>
            <p:ph type="sldNum" sz="quarter" idx="4294967295"/>
          </p:nvPr>
        </p:nvSpPr>
        <p:spPr>
          <a:xfrm>
            <a:off x="11760200" y="6370638"/>
            <a:ext cx="431800" cy="433387"/>
          </a:xfrm>
        </p:spPr>
        <p:txBody>
          <a:bodyPr/>
          <a:lstStyle/>
          <a:p>
            <a:fld id="{19B51A1E-902D-48AF-9020-955120F399B6}" type="slidenum">
              <a:rPr lang="en-US" smtClean="0"/>
              <a:pPr/>
              <a:t>7</a:t>
            </a:fld>
            <a:endParaRPr lang="en-US" dirty="0"/>
          </a:p>
        </p:txBody>
      </p:sp>
      <p:sp>
        <p:nvSpPr>
          <p:cNvPr id="8" name="TextBox 7">
            <a:extLst>
              <a:ext uri="{FF2B5EF4-FFF2-40B4-BE49-F238E27FC236}">
                <a16:creationId xmlns:a16="http://schemas.microsoft.com/office/drawing/2014/main" id="{072EADF4-5772-DAF3-96D2-18A66441747A}"/>
              </a:ext>
            </a:extLst>
          </p:cNvPr>
          <p:cNvSpPr txBox="1"/>
          <p:nvPr/>
        </p:nvSpPr>
        <p:spPr>
          <a:xfrm>
            <a:off x="9945065" y="6408962"/>
            <a:ext cx="1668951" cy="39438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r>
              <a:rPr lang="en-US" b="0" i="0" spc="140" baseline="0" dirty="0">
                <a:solidFill>
                  <a:schemeClr val="tx1">
                    <a:lumMod val="75000"/>
                    <a:lumOff val="25000"/>
                  </a:schemeClr>
                </a:solidFill>
                <a:latin typeface="+mj-lt"/>
              </a:rPr>
              <a:t>research</a:t>
            </a:r>
          </a:p>
        </p:txBody>
      </p:sp>
      <p:pic>
        <p:nvPicPr>
          <p:cNvPr id="6" name="Picture 5">
            <a:extLst>
              <a:ext uri="{FF2B5EF4-FFF2-40B4-BE49-F238E27FC236}">
                <a16:creationId xmlns:a16="http://schemas.microsoft.com/office/drawing/2014/main" id="{123A3775-7346-B5EE-CB67-A8F9FF89BAB2}"/>
              </a:ext>
            </a:extLst>
          </p:cNvPr>
          <p:cNvPicPr>
            <a:picLocks noChangeAspect="1"/>
          </p:cNvPicPr>
          <p:nvPr/>
        </p:nvPicPr>
        <p:blipFill>
          <a:blip r:embed="rId2"/>
          <a:stretch>
            <a:fillRect/>
          </a:stretch>
        </p:blipFill>
        <p:spPr>
          <a:xfrm>
            <a:off x="830064" y="478994"/>
            <a:ext cx="5891644" cy="5891644"/>
          </a:xfrm>
          <a:prstGeom prst="rect">
            <a:avLst/>
          </a:prstGeom>
        </p:spPr>
      </p:pic>
      <p:sp>
        <p:nvSpPr>
          <p:cNvPr id="10" name="Text Placeholder 9">
            <a:extLst>
              <a:ext uri="{FF2B5EF4-FFF2-40B4-BE49-F238E27FC236}">
                <a16:creationId xmlns:a16="http://schemas.microsoft.com/office/drawing/2014/main" id="{2972F17A-D965-40B9-8ABB-C634072DBCC0}"/>
              </a:ext>
            </a:extLst>
          </p:cNvPr>
          <p:cNvSpPr>
            <a:spLocks noGrp="1"/>
          </p:cNvSpPr>
          <p:nvPr>
            <p:ph type="subTitle" idx="1"/>
          </p:nvPr>
        </p:nvSpPr>
        <p:spPr>
          <a:xfrm>
            <a:off x="6721708" y="4072349"/>
            <a:ext cx="5470292" cy="579884"/>
          </a:xfrm>
        </p:spPr>
        <p:txBody>
          <a:bodyPr/>
          <a:lstStyle/>
          <a:p>
            <a:r>
              <a:rPr lang="en-US" dirty="0"/>
              <a:t>A Summary of Insights and key take away.</a:t>
            </a:r>
          </a:p>
          <a:p>
            <a:endParaRPr lang="en-US" dirty="0"/>
          </a:p>
        </p:txBody>
      </p:sp>
      <p:sp>
        <p:nvSpPr>
          <p:cNvPr id="4" name="Content Placeholder 3">
            <a:extLst>
              <a:ext uri="{FF2B5EF4-FFF2-40B4-BE49-F238E27FC236}">
                <a16:creationId xmlns:a16="http://schemas.microsoft.com/office/drawing/2014/main" id="{4850B79D-74BA-DEC6-DC13-BE0615EB65C5}"/>
              </a:ext>
            </a:extLst>
          </p:cNvPr>
          <p:cNvSpPr txBox="1">
            <a:spLocks/>
          </p:cNvSpPr>
          <p:nvPr/>
        </p:nvSpPr>
        <p:spPr>
          <a:xfrm>
            <a:off x="9220286" y="1831363"/>
            <a:ext cx="2755814" cy="862207"/>
          </a:xfrm>
          <a:prstGeom prst="rect">
            <a:avLst/>
          </a:prstGeom>
          <a:solidFill>
            <a:schemeClr val="bg1"/>
          </a:solidFill>
          <a:ln>
            <a:solidFill>
              <a:schemeClr val="accent1"/>
            </a:solidFill>
          </a:ln>
        </p:spPr>
        <p:txBody>
          <a:bodyPr vert="horz" lIns="180000" tIns="180000" rIns="180000" bIns="180000" rtlCol="0">
            <a:noAutofit/>
          </a:bodyPr>
          <a:lstStyle>
            <a:lvl1pPr marL="0" indent="0" algn="r" defTabSz="914400" rtl="0" eaLnBrk="1" latinLnBrk="0" hangingPunct="1">
              <a:lnSpc>
                <a:spcPct val="90000"/>
              </a:lnSpc>
              <a:spcBef>
                <a:spcPts val="1000"/>
              </a:spcBef>
              <a:buFont typeface="Arial" panose="020B0604020202020204" pitchFamily="34" charset="0"/>
              <a:buNone/>
              <a:defRPr lang="en-ZA" sz="1800" kern="1200" dirty="0">
                <a:solidFill>
                  <a:schemeClr val="bg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dirty="0">
                <a:solidFill>
                  <a:srgbClr val="FF0000"/>
                </a:solidFill>
              </a:rPr>
              <a:t>SUMMARY</a:t>
            </a:r>
          </a:p>
        </p:txBody>
      </p:sp>
      <p:pic>
        <p:nvPicPr>
          <p:cNvPr id="7" name="Picture 6">
            <a:extLst>
              <a:ext uri="{FF2B5EF4-FFF2-40B4-BE49-F238E27FC236}">
                <a16:creationId xmlns:a16="http://schemas.microsoft.com/office/drawing/2014/main" id="{779660E3-B0BB-F368-C529-C1F0F4A88497}"/>
              </a:ext>
            </a:extLst>
          </p:cNvPr>
          <p:cNvPicPr>
            <a:picLocks noChangeAspect="1"/>
          </p:cNvPicPr>
          <p:nvPr/>
        </p:nvPicPr>
        <p:blipFill>
          <a:blip r:embed="rId3"/>
          <a:stretch>
            <a:fillRect/>
          </a:stretch>
        </p:blipFill>
        <p:spPr>
          <a:xfrm>
            <a:off x="976496" y="5181879"/>
            <a:ext cx="1188759" cy="1188759"/>
          </a:xfrm>
          <a:prstGeom prst="rect">
            <a:avLst/>
          </a:prstGeom>
        </p:spPr>
      </p:pic>
    </p:spTree>
    <p:extLst>
      <p:ext uri="{BB962C8B-B14F-4D97-AF65-F5344CB8AC3E}">
        <p14:creationId xmlns:p14="http://schemas.microsoft.com/office/powerpoint/2010/main" val="2117695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8F5AE0D5-C196-A947-8AFE-449A48B26153}"/>
              </a:ext>
            </a:extLst>
          </p:cNvPr>
          <p:cNvPicPr>
            <a:picLocks noGrp="1" noChangeAspect="1"/>
          </p:cNvPicPr>
          <p:nvPr>
            <p:ph type="pic" sz="quarter" idx="14"/>
          </p:nvPr>
        </p:nvPicPr>
        <p:blipFill>
          <a:blip r:embed="rId2"/>
          <a:srcRect t="6451" b="6451"/>
          <a:stretch/>
        </p:blipFill>
        <p:spPr>
          <a:xfrm>
            <a:off x="4933005" y="2409688"/>
            <a:ext cx="6991771" cy="3653791"/>
          </a:xfrm>
        </p:spPr>
      </p:pic>
      <p:sp>
        <p:nvSpPr>
          <p:cNvPr id="6" name="Slide Number Placeholder 5">
            <a:extLst>
              <a:ext uri="{FF2B5EF4-FFF2-40B4-BE49-F238E27FC236}">
                <a16:creationId xmlns:a16="http://schemas.microsoft.com/office/drawing/2014/main" id="{70202D98-AA1E-41BB-B94E-180311759C13}"/>
              </a:ext>
            </a:extLst>
          </p:cNvPr>
          <p:cNvSpPr>
            <a:spLocks noGrp="1"/>
          </p:cNvSpPr>
          <p:nvPr>
            <p:ph type="sldNum" sz="quarter" idx="15"/>
          </p:nvPr>
        </p:nvSpPr>
        <p:spPr/>
        <p:txBody>
          <a:bodyPr/>
          <a:lstStyle/>
          <a:p>
            <a:fld id="{19B51A1E-902D-48AF-9020-955120F399B6}" type="slidenum">
              <a:rPr lang="en-US" smtClean="0"/>
              <a:pPr/>
              <a:t>8</a:t>
            </a:fld>
            <a:endParaRPr lang="en-US" dirty="0"/>
          </a:p>
        </p:txBody>
      </p:sp>
      <p:sp>
        <p:nvSpPr>
          <p:cNvPr id="15" name="Title 14" hidden="1">
            <a:extLst>
              <a:ext uri="{FF2B5EF4-FFF2-40B4-BE49-F238E27FC236}">
                <a16:creationId xmlns:a16="http://schemas.microsoft.com/office/drawing/2014/main" id="{57449059-8E74-4D74-9455-28330314E8EC}"/>
              </a:ext>
            </a:extLst>
          </p:cNvPr>
          <p:cNvSpPr>
            <a:spLocks noGrp="1"/>
          </p:cNvSpPr>
          <p:nvPr>
            <p:ph type="title"/>
          </p:nvPr>
        </p:nvSpPr>
        <p:spPr/>
        <p:txBody>
          <a:bodyPr/>
          <a:lstStyle/>
          <a:p>
            <a:r>
              <a:rPr lang="en-US" dirty="0"/>
              <a:t>title</a:t>
            </a:r>
          </a:p>
        </p:txBody>
      </p:sp>
      <p:sp>
        <p:nvSpPr>
          <p:cNvPr id="3" name="TextBox 2">
            <a:extLst>
              <a:ext uri="{FF2B5EF4-FFF2-40B4-BE49-F238E27FC236}">
                <a16:creationId xmlns:a16="http://schemas.microsoft.com/office/drawing/2014/main" id="{B5856DAA-2649-E334-DF80-77299403C1A0}"/>
              </a:ext>
            </a:extLst>
          </p:cNvPr>
          <p:cNvSpPr txBox="1"/>
          <p:nvPr/>
        </p:nvSpPr>
        <p:spPr>
          <a:xfrm>
            <a:off x="9945065" y="6390156"/>
            <a:ext cx="1668951" cy="39438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r>
              <a:rPr lang="en-US" b="0" i="0" spc="140" baseline="0" dirty="0">
                <a:solidFill>
                  <a:schemeClr val="tx1">
                    <a:lumMod val="75000"/>
                    <a:lumOff val="25000"/>
                  </a:schemeClr>
                </a:solidFill>
                <a:latin typeface="+mj-lt"/>
              </a:rPr>
              <a:t>research</a:t>
            </a:r>
          </a:p>
        </p:txBody>
      </p:sp>
      <p:sp>
        <p:nvSpPr>
          <p:cNvPr id="2" name="TextBox 1">
            <a:extLst>
              <a:ext uri="{FF2B5EF4-FFF2-40B4-BE49-F238E27FC236}">
                <a16:creationId xmlns:a16="http://schemas.microsoft.com/office/drawing/2014/main" id="{6879E8BD-78F6-1D08-BEBA-01550C367109}"/>
              </a:ext>
            </a:extLst>
          </p:cNvPr>
          <p:cNvSpPr txBox="1"/>
          <p:nvPr/>
        </p:nvSpPr>
        <p:spPr>
          <a:xfrm>
            <a:off x="5097783" y="959747"/>
            <a:ext cx="6662217" cy="1200329"/>
          </a:xfrm>
          <a:prstGeom prst="rect">
            <a:avLst/>
          </a:prstGeom>
          <a:noFill/>
        </p:spPr>
        <p:txBody>
          <a:bodyPr wrap="square" rtlCol="0">
            <a:spAutoFit/>
          </a:bodyPr>
          <a:lstStyle/>
          <a:p>
            <a:pPr algn="ctr"/>
            <a:r>
              <a:rPr lang="en-US" sz="2400" b="1" dirty="0"/>
              <a:t>Based on the analysis of the travel dataset, here’s a summary of key findings that can inform the design and development of the app:</a:t>
            </a:r>
          </a:p>
        </p:txBody>
      </p:sp>
      <p:sp>
        <p:nvSpPr>
          <p:cNvPr id="7" name="Content Placeholder 6">
            <a:extLst>
              <a:ext uri="{FF2B5EF4-FFF2-40B4-BE49-F238E27FC236}">
                <a16:creationId xmlns:a16="http://schemas.microsoft.com/office/drawing/2014/main" id="{9E0CB7AD-882B-2C80-074A-1E42902905C3}"/>
              </a:ext>
            </a:extLst>
          </p:cNvPr>
          <p:cNvSpPr>
            <a:spLocks noGrp="1"/>
          </p:cNvSpPr>
          <p:nvPr>
            <p:ph sz="half" idx="1"/>
          </p:nvPr>
        </p:nvSpPr>
        <p:spPr>
          <a:xfrm>
            <a:off x="0" y="1910464"/>
            <a:ext cx="4646244" cy="499224"/>
          </a:xfrm>
        </p:spPr>
        <p:txBody>
          <a:bodyPr/>
          <a:lstStyle/>
          <a:p>
            <a:r>
              <a:rPr lang="en-US" b="1" dirty="0"/>
              <a:t>Summary of Analysis for App Development.</a:t>
            </a:r>
          </a:p>
        </p:txBody>
      </p:sp>
      <p:sp>
        <p:nvSpPr>
          <p:cNvPr id="11" name="Title 2">
            <a:extLst>
              <a:ext uri="{FF2B5EF4-FFF2-40B4-BE49-F238E27FC236}">
                <a16:creationId xmlns:a16="http://schemas.microsoft.com/office/drawing/2014/main" id="{67DA10CB-8790-08F4-6EA5-2C69367AE60B}"/>
              </a:ext>
            </a:extLst>
          </p:cNvPr>
          <p:cNvSpPr txBox="1">
            <a:spLocks/>
          </p:cNvSpPr>
          <p:nvPr/>
        </p:nvSpPr>
        <p:spPr>
          <a:xfrm>
            <a:off x="-18026" y="874163"/>
            <a:ext cx="3180921" cy="987926"/>
          </a:xfrm>
          <a:prstGeom prst="rect">
            <a:avLst/>
          </a:prstGeom>
          <a:solidFill>
            <a:schemeClr val="bg2"/>
          </a:solidFill>
          <a:ln>
            <a:solidFill>
              <a:schemeClr val="tx1">
                <a:lumMod val="10000"/>
                <a:lumOff val="90000"/>
              </a:schemeClr>
            </a:solidFill>
          </a:ln>
        </p:spPr>
        <p:txBody>
          <a:bodyPr vert="horz" lIns="0" tIns="0" rIns="0" bIns="0" rtlCol="0" anchor="ctr">
            <a:noAutofit/>
          </a:bodyPr>
          <a:lst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a:lstStyle>
          <a:p>
            <a:r>
              <a:rPr lang="en-US" sz="4400" dirty="0"/>
              <a:t>SUMMARY</a:t>
            </a:r>
          </a:p>
        </p:txBody>
      </p:sp>
      <p:sp>
        <p:nvSpPr>
          <p:cNvPr id="14" name="Rectangle 13">
            <a:extLst>
              <a:ext uri="{FF2B5EF4-FFF2-40B4-BE49-F238E27FC236}">
                <a16:creationId xmlns:a16="http://schemas.microsoft.com/office/drawing/2014/main" id="{C9C85BF7-5C96-2D5F-2698-BD330C4DFB18}"/>
              </a:ext>
              <a:ext uri="{C183D7F6-B498-43B3-948B-1728B52AA6E4}">
                <adec:decorative xmlns:adec="http://schemas.microsoft.com/office/drawing/2017/decorative" val="1"/>
              </a:ext>
            </a:extLst>
          </p:cNvPr>
          <p:cNvSpPr/>
          <p:nvPr/>
        </p:nvSpPr>
        <p:spPr>
          <a:xfrm>
            <a:off x="0" y="759339"/>
            <a:ext cx="3180920"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16" name="TextBox 15">
            <a:extLst>
              <a:ext uri="{FF2B5EF4-FFF2-40B4-BE49-F238E27FC236}">
                <a16:creationId xmlns:a16="http://schemas.microsoft.com/office/drawing/2014/main" id="{0A4E2EA0-F93B-9558-8B6F-B05B077F1B55}"/>
              </a:ext>
            </a:extLst>
          </p:cNvPr>
          <p:cNvSpPr txBox="1"/>
          <p:nvPr/>
        </p:nvSpPr>
        <p:spPr>
          <a:xfrm>
            <a:off x="770800" y="3056184"/>
            <a:ext cx="3633078" cy="2862322"/>
          </a:xfrm>
          <a:prstGeom prst="rect">
            <a:avLst/>
          </a:prstGeom>
          <a:noFill/>
        </p:spPr>
        <p:txBody>
          <a:bodyPr wrap="square" rtlCol="0">
            <a:spAutoFit/>
          </a:bodyPr>
          <a:lstStyle/>
          <a:p>
            <a:pPr marL="342900" indent="-342900" algn="l">
              <a:buFont typeface="Arial" panose="020B0604020202020204" pitchFamily="34" charset="0"/>
              <a:buChar char="•"/>
            </a:pPr>
            <a:r>
              <a:rPr lang="en-US" sz="2000" b="1" dirty="0">
                <a:solidFill>
                  <a:srgbClr val="FF0000"/>
                </a:solidFill>
              </a:rPr>
              <a:t>Target Audience</a:t>
            </a:r>
            <a:r>
              <a:rPr lang="en-US" sz="2000" b="1" dirty="0"/>
              <a:t>: The data suggests a diverse age range of travelers, with the </a:t>
            </a:r>
            <a:r>
              <a:rPr lang="en-US" sz="2000" b="1" dirty="0">
                <a:solidFill>
                  <a:srgbClr val="FF0000"/>
                </a:solidFill>
              </a:rPr>
              <a:t>58-62</a:t>
            </a:r>
            <a:r>
              <a:rPr lang="en-US" sz="2000" b="1" dirty="0"/>
              <a:t> age group showing the highest travel frequency. The app should cater to different age segments with appropriate features and user interfaces</a:t>
            </a:r>
            <a:r>
              <a:rPr lang="en-US" dirty="0"/>
              <a:t>.</a:t>
            </a:r>
          </a:p>
        </p:txBody>
      </p:sp>
      <p:pic>
        <p:nvPicPr>
          <p:cNvPr id="18" name="Picture 17">
            <a:extLst>
              <a:ext uri="{FF2B5EF4-FFF2-40B4-BE49-F238E27FC236}">
                <a16:creationId xmlns:a16="http://schemas.microsoft.com/office/drawing/2014/main" id="{FDB1B9D3-C272-BAEA-BF91-8DE82685274E}"/>
              </a:ext>
            </a:extLst>
          </p:cNvPr>
          <p:cNvPicPr>
            <a:picLocks noChangeAspect="1"/>
          </p:cNvPicPr>
          <p:nvPr/>
        </p:nvPicPr>
        <p:blipFill>
          <a:blip r:embed="rId3"/>
          <a:stretch>
            <a:fillRect/>
          </a:stretch>
        </p:blipFill>
        <p:spPr>
          <a:xfrm>
            <a:off x="10110546" y="2742"/>
            <a:ext cx="1038045" cy="1038045"/>
          </a:xfrm>
          <a:prstGeom prst="rect">
            <a:avLst/>
          </a:prstGeom>
        </p:spPr>
      </p:pic>
    </p:spTree>
    <p:extLst>
      <p:ext uri="{BB962C8B-B14F-4D97-AF65-F5344CB8AC3E}">
        <p14:creationId xmlns:p14="http://schemas.microsoft.com/office/powerpoint/2010/main" val="665219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0202D98-AA1E-41BB-B94E-180311759C13}"/>
              </a:ext>
            </a:extLst>
          </p:cNvPr>
          <p:cNvSpPr>
            <a:spLocks noGrp="1"/>
          </p:cNvSpPr>
          <p:nvPr>
            <p:ph type="sldNum" sz="quarter" idx="15"/>
          </p:nvPr>
        </p:nvSpPr>
        <p:spPr/>
        <p:txBody>
          <a:bodyPr/>
          <a:lstStyle/>
          <a:p>
            <a:fld id="{19B51A1E-902D-48AF-9020-955120F399B6}" type="slidenum">
              <a:rPr lang="en-US" smtClean="0"/>
              <a:pPr/>
              <a:t>9</a:t>
            </a:fld>
            <a:endParaRPr lang="en-US" dirty="0"/>
          </a:p>
        </p:txBody>
      </p:sp>
      <p:sp>
        <p:nvSpPr>
          <p:cNvPr id="15" name="Title 14" hidden="1">
            <a:extLst>
              <a:ext uri="{FF2B5EF4-FFF2-40B4-BE49-F238E27FC236}">
                <a16:creationId xmlns:a16="http://schemas.microsoft.com/office/drawing/2014/main" id="{57449059-8E74-4D74-9455-28330314E8EC}"/>
              </a:ext>
            </a:extLst>
          </p:cNvPr>
          <p:cNvSpPr>
            <a:spLocks noGrp="1"/>
          </p:cNvSpPr>
          <p:nvPr>
            <p:ph type="title"/>
          </p:nvPr>
        </p:nvSpPr>
        <p:spPr/>
        <p:txBody>
          <a:bodyPr/>
          <a:lstStyle/>
          <a:p>
            <a:r>
              <a:rPr lang="en-US" dirty="0"/>
              <a:t>title</a:t>
            </a:r>
          </a:p>
        </p:txBody>
      </p:sp>
      <p:sp>
        <p:nvSpPr>
          <p:cNvPr id="3" name="TextBox 2">
            <a:extLst>
              <a:ext uri="{FF2B5EF4-FFF2-40B4-BE49-F238E27FC236}">
                <a16:creationId xmlns:a16="http://schemas.microsoft.com/office/drawing/2014/main" id="{B5856DAA-2649-E334-DF80-77299403C1A0}"/>
              </a:ext>
            </a:extLst>
          </p:cNvPr>
          <p:cNvSpPr txBox="1"/>
          <p:nvPr/>
        </p:nvSpPr>
        <p:spPr>
          <a:xfrm>
            <a:off x="9945065" y="6390156"/>
            <a:ext cx="1668951" cy="39438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r>
              <a:rPr lang="en-US" b="0" i="0" spc="140" baseline="0" dirty="0">
                <a:solidFill>
                  <a:schemeClr val="tx1">
                    <a:lumMod val="75000"/>
                    <a:lumOff val="25000"/>
                  </a:schemeClr>
                </a:solidFill>
                <a:latin typeface="+mj-lt"/>
              </a:rPr>
              <a:t>research</a:t>
            </a:r>
          </a:p>
        </p:txBody>
      </p:sp>
      <p:sp>
        <p:nvSpPr>
          <p:cNvPr id="7" name="Content Placeholder 6">
            <a:extLst>
              <a:ext uri="{FF2B5EF4-FFF2-40B4-BE49-F238E27FC236}">
                <a16:creationId xmlns:a16="http://schemas.microsoft.com/office/drawing/2014/main" id="{9E0CB7AD-882B-2C80-074A-1E42902905C3}"/>
              </a:ext>
            </a:extLst>
          </p:cNvPr>
          <p:cNvSpPr>
            <a:spLocks noGrp="1"/>
          </p:cNvSpPr>
          <p:nvPr>
            <p:ph sz="half" idx="1"/>
          </p:nvPr>
        </p:nvSpPr>
        <p:spPr>
          <a:xfrm>
            <a:off x="0" y="1910464"/>
            <a:ext cx="4646244" cy="499224"/>
          </a:xfrm>
        </p:spPr>
        <p:txBody>
          <a:bodyPr/>
          <a:lstStyle/>
          <a:p>
            <a:r>
              <a:rPr lang="en-US" b="1" dirty="0"/>
              <a:t>Summary of Analysis for App Development.</a:t>
            </a:r>
          </a:p>
        </p:txBody>
      </p:sp>
      <p:sp>
        <p:nvSpPr>
          <p:cNvPr id="11" name="Title 2">
            <a:extLst>
              <a:ext uri="{FF2B5EF4-FFF2-40B4-BE49-F238E27FC236}">
                <a16:creationId xmlns:a16="http://schemas.microsoft.com/office/drawing/2014/main" id="{67DA10CB-8790-08F4-6EA5-2C69367AE60B}"/>
              </a:ext>
            </a:extLst>
          </p:cNvPr>
          <p:cNvSpPr txBox="1">
            <a:spLocks/>
          </p:cNvSpPr>
          <p:nvPr/>
        </p:nvSpPr>
        <p:spPr>
          <a:xfrm>
            <a:off x="-18026" y="874163"/>
            <a:ext cx="3180921" cy="987926"/>
          </a:xfrm>
          <a:prstGeom prst="rect">
            <a:avLst/>
          </a:prstGeom>
          <a:solidFill>
            <a:schemeClr val="bg2"/>
          </a:solidFill>
          <a:ln>
            <a:solidFill>
              <a:schemeClr val="tx1">
                <a:lumMod val="10000"/>
                <a:lumOff val="90000"/>
              </a:schemeClr>
            </a:solidFill>
          </a:ln>
        </p:spPr>
        <p:txBody>
          <a:bodyPr vert="horz" lIns="0" tIns="0" rIns="0" bIns="0" rtlCol="0" anchor="ctr">
            <a:noAutofit/>
          </a:bodyPr>
          <a:lst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a:lstStyle>
          <a:p>
            <a:r>
              <a:rPr lang="en-US" sz="4400" dirty="0"/>
              <a:t>SUMMARY</a:t>
            </a:r>
          </a:p>
        </p:txBody>
      </p:sp>
      <p:sp>
        <p:nvSpPr>
          <p:cNvPr id="14" name="Rectangle 13">
            <a:extLst>
              <a:ext uri="{FF2B5EF4-FFF2-40B4-BE49-F238E27FC236}">
                <a16:creationId xmlns:a16="http://schemas.microsoft.com/office/drawing/2014/main" id="{C9C85BF7-5C96-2D5F-2698-BD330C4DFB18}"/>
              </a:ext>
              <a:ext uri="{C183D7F6-B498-43B3-948B-1728B52AA6E4}">
                <adec:decorative xmlns:adec="http://schemas.microsoft.com/office/drawing/2017/decorative" val="1"/>
              </a:ext>
            </a:extLst>
          </p:cNvPr>
          <p:cNvSpPr/>
          <p:nvPr/>
        </p:nvSpPr>
        <p:spPr>
          <a:xfrm>
            <a:off x="0" y="759339"/>
            <a:ext cx="3180920"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16" name="TextBox 15">
            <a:extLst>
              <a:ext uri="{FF2B5EF4-FFF2-40B4-BE49-F238E27FC236}">
                <a16:creationId xmlns:a16="http://schemas.microsoft.com/office/drawing/2014/main" id="{0A4E2EA0-F93B-9558-8B6F-B05B077F1B55}"/>
              </a:ext>
            </a:extLst>
          </p:cNvPr>
          <p:cNvSpPr txBox="1"/>
          <p:nvPr/>
        </p:nvSpPr>
        <p:spPr>
          <a:xfrm>
            <a:off x="1590460" y="2768786"/>
            <a:ext cx="3894947" cy="3170099"/>
          </a:xfrm>
          <a:prstGeom prst="rect">
            <a:avLst/>
          </a:prstGeom>
          <a:noFill/>
        </p:spPr>
        <p:txBody>
          <a:bodyPr wrap="square" rtlCol="0">
            <a:spAutoFit/>
          </a:bodyPr>
          <a:lstStyle/>
          <a:p>
            <a:pPr marL="342900" indent="-342900" algn="l">
              <a:buFont typeface="Arial" panose="020B0604020202020204" pitchFamily="34" charset="0"/>
              <a:buChar char="•"/>
            </a:pPr>
            <a:r>
              <a:rPr lang="en-US" sz="2000" b="1" dirty="0">
                <a:solidFill>
                  <a:srgbClr val="FF0000"/>
                </a:solidFill>
              </a:rPr>
              <a:t>Popular Destinations and Seasons:</a:t>
            </a:r>
            <a:r>
              <a:rPr lang="en-US" sz="2000" b="1" dirty="0"/>
              <a:t> London, Sydney, and Toronto are the most popular destinations, with February being the peak travel month and March the lowest. The app can highlight popular destinations, offer seasonal promotions, and provide insights into peak travel times.</a:t>
            </a:r>
          </a:p>
        </p:txBody>
      </p:sp>
      <p:sp>
        <p:nvSpPr>
          <p:cNvPr id="9" name="TextBox 8">
            <a:extLst>
              <a:ext uri="{FF2B5EF4-FFF2-40B4-BE49-F238E27FC236}">
                <a16:creationId xmlns:a16="http://schemas.microsoft.com/office/drawing/2014/main" id="{A381B5DE-15E1-D3CF-CC58-8651CFABBBF1}"/>
              </a:ext>
            </a:extLst>
          </p:cNvPr>
          <p:cNvSpPr txBox="1"/>
          <p:nvPr/>
        </p:nvSpPr>
        <p:spPr>
          <a:xfrm>
            <a:off x="7061892" y="2768786"/>
            <a:ext cx="3894947" cy="3170099"/>
          </a:xfrm>
          <a:prstGeom prst="rect">
            <a:avLst/>
          </a:prstGeom>
          <a:noFill/>
        </p:spPr>
        <p:txBody>
          <a:bodyPr wrap="square" rtlCol="0">
            <a:spAutoFit/>
          </a:bodyPr>
          <a:lstStyle/>
          <a:p>
            <a:pPr marL="342900" indent="-342900" algn="l">
              <a:buFont typeface="Arial" panose="020B0604020202020204" pitchFamily="34" charset="0"/>
              <a:buChar char="•"/>
            </a:pPr>
            <a:r>
              <a:rPr lang="en-US" sz="2000" b="1" dirty="0">
                <a:solidFill>
                  <a:srgbClr val="FF0000"/>
                </a:solidFill>
              </a:rPr>
              <a:t>Travel Type Preferences:</a:t>
            </a:r>
            <a:r>
              <a:rPr lang="en-US" sz="2000" b="1" dirty="0"/>
              <a:t> Both leisure and business travel are significant, with leisure being slightly more common. The app should support features relevant to both travel types, such as business travel profiles, expense reporting, and leisure activity recommendations.</a:t>
            </a:r>
          </a:p>
        </p:txBody>
      </p:sp>
      <p:pic>
        <p:nvPicPr>
          <p:cNvPr id="10" name="Picture 9">
            <a:extLst>
              <a:ext uri="{FF2B5EF4-FFF2-40B4-BE49-F238E27FC236}">
                <a16:creationId xmlns:a16="http://schemas.microsoft.com/office/drawing/2014/main" id="{A3FFE5D1-94AA-E0A5-0825-89756CFF39EB}"/>
              </a:ext>
            </a:extLst>
          </p:cNvPr>
          <p:cNvPicPr>
            <a:picLocks noChangeAspect="1"/>
          </p:cNvPicPr>
          <p:nvPr/>
        </p:nvPicPr>
        <p:blipFill>
          <a:blip r:embed="rId2"/>
          <a:stretch>
            <a:fillRect/>
          </a:stretch>
        </p:blipFill>
        <p:spPr>
          <a:xfrm>
            <a:off x="6743442" y="73732"/>
            <a:ext cx="2588787" cy="2588787"/>
          </a:xfrm>
          <a:prstGeom prst="rect">
            <a:avLst/>
          </a:prstGeom>
        </p:spPr>
      </p:pic>
      <p:pic>
        <p:nvPicPr>
          <p:cNvPr id="4" name="Picture 3">
            <a:extLst>
              <a:ext uri="{FF2B5EF4-FFF2-40B4-BE49-F238E27FC236}">
                <a16:creationId xmlns:a16="http://schemas.microsoft.com/office/drawing/2014/main" id="{83C9ADE4-D121-E140-6E77-F164A00F0F15}"/>
              </a:ext>
            </a:extLst>
          </p:cNvPr>
          <p:cNvPicPr>
            <a:picLocks noChangeAspect="1"/>
          </p:cNvPicPr>
          <p:nvPr/>
        </p:nvPicPr>
        <p:blipFill>
          <a:blip r:embed="rId3"/>
          <a:stretch>
            <a:fillRect/>
          </a:stretch>
        </p:blipFill>
        <p:spPr>
          <a:xfrm>
            <a:off x="10185160" y="5201397"/>
            <a:ext cx="1188759" cy="1188759"/>
          </a:xfrm>
          <a:prstGeom prst="rect">
            <a:avLst/>
          </a:prstGeom>
        </p:spPr>
      </p:pic>
    </p:spTree>
    <p:extLst>
      <p:ext uri="{BB962C8B-B14F-4D97-AF65-F5344CB8AC3E}">
        <p14:creationId xmlns:p14="http://schemas.microsoft.com/office/powerpoint/2010/main" val="2384613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0202D98-AA1E-41BB-B94E-180311759C13}"/>
              </a:ext>
            </a:extLst>
          </p:cNvPr>
          <p:cNvSpPr>
            <a:spLocks noGrp="1"/>
          </p:cNvSpPr>
          <p:nvPr>
            <p:ph type="sldNum" sz="quarter" idx="15"/>
          </p:nvPr>
        </p:nvSpPr>
        <p:spPr/>
        <p:txBody>
          <a:bodyPr/>
          <a:lstStyle/>
          <a:p>
            <a:fld id="{19B51A1E-902D-48AF-9020-955120F399B6}" type="slidenum">
              <a:rPr lang="en-US" smtClean="0"/>
              <a:pPr/>
              <a:t>10</a:t>
            </a:fld>
            <a:endParaRPr lang="en-US" dirty="0"/>
          </a:p>
        </p:txBody>
      </p:sp>
      <p:sp>
        <p:nvSpPr>
          <p:cNvPr id="15" name="Title 14" hidden="1">
            <a:extLst>
              <a:ext uri="{FF2B5EF4-FFF2-40B4-BE49-F238E27FC236}">
                <a16:creationId xmlns:a16="http://schemas.microsoft.com/office/drawing/2014/main" id="{57449059-8E74-4D74-9455-28330314E8EC}"/>
              </a:ext>
            </a:extLst>
          </p:cNvPr>
          <p:cNvSpPr>
            <a:spLocks noGrp="1"/>
          </p:cNvSpPr>
          <p:nvPr>
            <p:ph type="title"/>
          </p:nvPr>
        </p:nvSpPr>
        <p:spPr/>
        <p:txBody>
          <a:bodyPr/>
          <a:lstStyle/>
          <a:p>
            <a:r>
              <a:rPr lang="en-US" dirty="0"/>
              <a:t>title</a:t>
            </a:r>
          </a:p>
        </p:txBody>
      </p:sp>
      <p:sp>
        <p:nvSpPr>
          <p:cNvPr id="3" name="TextBox 2">
            <a:extLst>
              <a:ext uri="{FF2B5EF4-FFF2-40B4-BE49-F238E27FC236}">
                <a16:creationId xmlns:a16="http://schemas.microsoft.com/office/drawing/2014/main" id="{B5856DAA-2649-E334-DF80-77299403C1A0}"/>
              </a:ext>
            </a:extLst>
          </p:cNvPr>
          <p:cNvSpPr txBox="1"/>
          <p:nvPr/>
        </p:nvSpPr>
        <p:spPr>
          <a:xfrm>
            <a:off x="9945065" y="6390156"/>
            <a:ext cx="1668951" cy="39438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r>
              <a:rPr lang="en-US" b="0" i="0" spc="140" baseline="0" dirty="0">
                <a:solidFill>
                  <a:schemeClr val="tx1">
                    <a:lumMod val="75000"/>
                    <a:lumOff val="25000"/>
                  </a:schemeClr>
                </a:solidFill>
                <a:latin typeface="+mj-lt"/>
              </a:rPr>
              <a:t>research</a:t>
            </a:r>
          </a:p>
        </p:txBody>
      </p:sp>
      <p:sp>
        <p:nvSpPr>
          <p:cNvPr id="7" name="Content Placeholder 6">
            <a:extLst>
              <a:ext uri="{FF2B5EF4-FFF2-40B4-BE49-F238E27FC236}">
                <a16:creationId xmlns:a16="http://schemas.microsoft.com/office/drawing/2014/main" id="{9E0CB7AD-882B-2C80-074A-1E42902905C3}"/>
              </a:ext>
            </a:extLst>
          </p:cNvPr>
          <p:cNvSpPr>
            <a:spLocks noGrp="1"/>
          </p:cNvSpPr>
          <p:nvPr>
            <p:ph sz="half" idx="1"/>
          </p:nvPr>
        </p:nvSpPr>
        <p:spPr>
          <a:xfrm>
            <a:off x="0" y="1910464"/>
            <a:ext cx="4646244" cy="499224"/>
          </a:xfrm>
        </p:spPr>
        <p:txBody>
          <a:bodyPr/>
          <a:lstStyle/>
          <a:p>
            <a:r>
              <a:rPr lang="en-US" b="1" dirty="0"/>
              <a:t>Summary of Analysis for App Development.</a:t>
            </a:r>
          </a:p>
        </p:txBody>
      </p:sp>
      <p:sp>
        <p:nvSpPr>
          <p:cNvPr id="11" name="Title 2">
            <a:extLst>
              <a:ext uri="{FF2B5EF4-FFF2-40B4-BE49-F238E27FC236}">
                <a16:creationId xmlns:a16="http://schemas.microsoft.com/office/drawing/2014/main" id="{67DA10CB-8790-08F4-6EA5-2C69367AE60B}"/>
              </a:ext>
            </a:extLst>
          </p:cNvPr>
          <p:cNvSpPr txBox="1">
            <a:spLocks/>
          </p:cNvSpPr>
          <p:nvPr/>
        </p:nvSpPr>
        <p:spPr>
          <a:xfrm>
            <a:off x="-18026" y="874163"/>
            <a:ext cx="3180921" cy="987926"/>
          </a:xfrm>
          <a:prstGeom prst="rect">
            <a:avLst/>
          </a:prstGeom>
          <a:solidFill>
            <a:schemeClr val="bg2"/>
          </a:solidFill>
          <a:ln>
            <a:solidFill>
              <a:schemeClr val="tx1">
                <a:lumMod val="10000"/>
                <a:lumOff val="90000"/>
              </a:schemeClr>
            </a:solidFill>
          </a:ln>
        </p:spPr>
        <p:txBody>
          <a:bodyPr vert="horz" lIns="0" tIns="0" rIns="0" bIns="0" rtlCol="0" anchor="ctr">
            <a:noAutofit/>
          </a:bodyPr>
          <a:lst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a:lstStyle>
          <a:p>
            <a:r>
              <a:rPr lang="en-US" sz="4400" dirty="0"/>
              <a:t>SUMMARY</a:t>
            </a:r>
          </a:p>
        </p:txBody>
      </p:sp>
      <p:sp>
        <p:nvSpPr>
          <p:cNvPr id="14" name="Rectangle 13">
            <a:extLst>
              <a:ext uri="{FF2B5EF4-FFF2-40B4-BE49-F238E27FC236}">
                <a16:creationId xmlns:a16="http://schemas.microsoft.com/office/drawing/2014/main" id="{C9C85BF7-5C96-2D5F-2698-BD330C4DFB18}"/>
              </a:ext>
              <a:ext uri="{C183D7F6-B498-43B3-948B-1728B52AA6E4}">
                <adec:decorative xmlns:adec="http://schemas.microsoft.com/office/drawing/2017/decorative" val="1"/>
              </a:ext>
            </a:extLst>
          </p:cNvPr>
          <p:cNvSpPr/>
          <p:nvPr/>
        </p:nvSpPr>
        <p:spPr>
          <a:xfrm>
            <a:off x="0" y="759339"/>
            <a:ext cx="3180920"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16" name="TextBox 15">
            <a:extLst>
              <a:ext uri="{FF2B5EF4-FFF2-40B4-BE49-F238E27FC236}">
                <a16:creationId xmlns:a16="http://schemas.microsoft.com/office/drawing/2014/main" id="{0A4E2EA0-F93B-9558-8B6F-B05B077F1B55}"/>
              </a:ext>
            </a:extLst>
          </p:cNvPr>
          <p:cNvSpPr txBox="1"/>
          <p:nvPr/>
        </p:nvSpPr>
        <p:spPr>
          <a:xfrm>
            <a:off x="195452" y="2555487"/>
            <a:ext cx="3894947" cy="3785652"/>
          </a:xfrm>
          <a:prstGeom prst="rect">
            <a:avLst/>
          </a:prstGeom>
          <a:noFill/>
        </p:spPr>
        <p:txBody>
          <a:bodyPr wrap="square" rtlCol="0">
            <a:spAutoFit/>
          </a:bodyPr>
          <a:lstStyle/>
          <a:p>
            <a:pPr marL="342900" indent="-342900" algn="l">
              <a:buFont typeface="Arial" panose="020B0604020202020204" pitchFamily="34" charset="0"/>
              <a:buChar char="•"/>
            </a:pPr>
            <a:r>
              <a:rPr lang="en-US" sz="2000" b="1" dirty="0">
                <a:solidFill>
                  <a:srgbClr val="FF0000"/>
                </a:solidFill>
              </a:rPr>
              <a:t>Relationship between Factors: </a:t>
            </a:r>
            <a:r>
              <a:rPr lang="en-US" sz="2000" b="1" dirty="0"/>
              <a:t>The analysis of payment methods by travel type, destination, and age group reveals interesting correlations. For instance, certain payment methods are more popular for business travel or specific destinations. This can inform payment options presented to users based on their travel details.</a:t>
            </a:r>
          </a:p>
        </p:txBody>
      </p:sp>
      <p:sp>
        <p:nvSpPr>
          <p:cNvPr id="8" name="TextBox 7">
            <a:extLst>
              <a:ext uri="{FF2B5EF4-FFF2-40B4-BE49-F238E27FC236}">
                <a16:creationId xmlns:a16="http://schemas.microsoft.com/office/drawing/2014/main" id="{9B5B2DCF-C063-3C19-31AE-1DB24D8CA686}"/>
              </a:ext>
            </a:extLst>
          </p:cNvPr>
          <p:cNvSpPr txBox="1"/>
          <p:nvPr/>
        </p:nvSpPr>
        <p:spPr>
          <a:xfrm>
            <a:off x="4090399" y="2555487"/>
            <a:ext cx="3894947" cy="3477875"/>
          </a:xfrm>
          <a:prstGeom prst="rect">
            <a:avLst/>
          </a:prstGeom>
          <a:noFill/>
        </p:spPr>
        <p:txBody>
          <a:bodyPr wrap="square" rtlCol="0">
            <a:spAutoFit/>
          </a:bodyPr>
          <a:lstStyle/>
          <a:p>
            <a:pPr marL="342900" indent="-342900">
              <a:buFont typeface="Arial" panose="020B0604020202020204" pitchFamily="34" charset="0"/>
              <a:buChar char="•"/>
            </a:pPr>
            <a:r>
              <a:rPr lang="en-US" sz="2000" b="1" i="0" dirty="0">
                <a:solidFill>
                  <a:srgbClr val="FF0000"/>
                </a:solidFill>
                <a:effectLst/>
                <a:latin typeface="Roboto" panose="02000000000000000000" pitchFamily="2" charset="0"/>
              </a:rPr>
              <a:t>Age-Specific Preferences: </a:t>
            </a:r>
            <a:r>
              <a:rPr lang="en-US" sz="2000" b="1" i="0" dirty="0">
                <a:solidFill>
                  <a:srgbClr val="1F1F1F"/>
                </a:solidFill>
                <a:effectLst/>
                <a:latin typeface="Roboto" panose="02000000000000000000" pitchFamily="2" charset="0"/>
              </a:rPr>
              <a:t>Different age groups show varying preferences for destinations and potentially travel types. The app can leverage this by offering personalized recommendations and targeted deals based on user age and past travel behavior.</a:t>
            </a:r>
          </a:p>
        </p:txBody>
      </p:sp>
      <p:sp>
        <p:nvSpPr>
          <p:cNvPr id="10" name="TextBox 9">
            <a:extLst>
              <a:ext uri="{FF2B5EF4-FFF2-40B4-BE49-F238E27FC236}">
                <a16:creationId xmlns:a16="http://schemas.microsoft.com/office/drawing/2014/main" id="{FCD007C9-5CAD-AE58-7442-5BDFBA761BFF}"/>
              </a:ext>
            </a:extLst>
          </p:cNvPr>
          <p:cNvSpPr txBox="1"/>
          <p:nvPr/>
        </p:nvSpPr>
        <p:spPr>
          <a:xfrm>
            <a:off x="7985346" y="2555486"/>
            <a:ext cx="3894947" cy="3477875"/>
          </a:xfrm>
          <a:prstGeom prst="rect">
            <a:avLst/>
          </a:prstGeom>
          <a:noFill/>
        </p:spPr>
        <p:txBody>
          <a:bodyPr wrap="square" rtlCol="0">
            <a:spAutoFit/>
          </a:bodyPr>
          <a:lstStyle/>
          <a:p>
            <a:pPr marL="342900" indent="-342900">
              <a:buFont typeface="Arial" panose="020B0604020202020204" pitchFamily="34" charset="0"/>
              <a:buChar char="•"/>
            </a:pPr>
            <a:r>
              <a:rPr lang="en-US" sz="2000" b="1" i="0" dirty="0">
                <a:solidFill>
                  <a:srgbClr val="FF0000"/>
                </a:solidFill>
                <a:effectLst/>
                <a:latin typeface="Roboto" panose="02000000000000000000" pitchFamily="2" charset="0"/>
              </a:rPr>
              <a:t>Payment Method Trends: </a:t>
            </a:r>
            <a:r>
              <a:rPr lang="en-US" sz="2000" b="1" i="0" dirty="0">
                <a:solidFill>
                  <a:srgbClr val="1F1F1F"/>
                </a:solidFill>
                <a:effectLst/>
                <a:latin typeface="Roboto" panose="02000000000000000000" pitchFamily="2" charset="0"/>
              </a:rPr>
              <a:t>Bank Transfer, Crypto, and PayPal are the most frequently used payment methods. The app should prioritize seamless integration with these payment options and potentially explore other popular methods based on the target market.</a:t>
            </a:r>
          </a:p>
        </p:txBody>
      </p:sp>
      <p:pic>
        <p:nvPicPr>
          <p:cNvPr id="17" name="Picture 16">
            <a:extLst>
              <a:ext uri="{FF2B5EF4-FFF2-40B4-BE49-F238E27FC236}">
                <a16:creationId xmlns:a16="http://schemas.microsoft.com/office/drawing/2014/main" id="{0BCB9E7D-CB0B-7CE2-383A-37CAC2EFE74C}"/>
              </a:ext>
            </a:extLst>
          </p:cNvPr>
          <p:cNvPicPr>
            <a:picLocks noChangeAspect="1"/>
          </p:cNvPicPr>
          <p:nvPr/>
        </p:nvPicPr>
        <p:blipFill>
          <a:blip r:embed="rId2"/>
          <a:stretch>
            <a:fillRect/>
          </a:stretch>
        </p:blipFill>
        <p:spPr>
          <a:xfrm>
            <a:off x="6743442" y="73732"/>
            <a:ext cx="2588787" cy="2588787"/>
          </a:xfrm>
          <a:prstGeom prst="rect">
            <a:avLst/>
          </a:prstGeom>
        </p:spPr>
      </p:pic>
      <p:pic>
        <p:nvPicPr>
          <p:cNvPr id="4" name="Picture 3">
            <a:extLst>
              <a:ext uri="{FF2B5EF4-FFF2-40B4-BE49-F238E27FC236}">
                <a16:creationId xmlns:a16="http://schemas.microsoft.com/office/drawing/2014/main" id="{DAC00C8D-11EF-5430-FC2E-19E497C1E288}"/>
              </a:ext>
            </a:extLst>
          </p:cNvPr>
          <p:cNvPicPr>
            <a:picLocks noChangeAspect="1"/>
          </p:cNvPicPr>
          <p:nvPr/>
        </p:nvPicPr>
        <p:blipFill>
          <a:blip r:embed="rId3"/>
          <a:stretch>
            <a:fillRect/>
          </a:stretch>
        </p:blipFill>
        <p:spPr>
          <a:xfrm>
            <a:off x="10426854" y="5684784"/>
            <a:ext cx="705372" cy="705372"/>
          </a:xfrm>
          <a:prstGeom prst="rect">
            <a:avLst/>
          </a:prstGeom>
        </p:spPr>
      </p:pic>
    </p:spTree>
    <p:extLst>
      <p:ext uri="{BB962C8B-B14F-4D97-AF65-F5344CB8AC3E}">
        <p14:creationId xmlns:p14="http://schemas.microsoft.com/office/powerpoint/2010/main" val="2163152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0202D98-AA1E-41BB-B94E-180311759C13}"/>
              </a:ext>
            </a:extLst>
          </p:cNvPr>
          <p:cNvSpPr>
            <a:spLocks noGrp="1"/>
          </p:cNvSpPr>
          <p:nvPr>
            <p:ph type="sldNum" sz="quarter" idx="15"/>
          </p:nvPr>
        </p:nvSpPr>
        <p:spPr/>
        <p:txBody>
          <a:bodyPr/>
          <a:lstStyle/>
          <a:p>
            <a:fld id="{19B51A1E-902D-48AF-9020-955120F399B6}" type="slidenum">
              <a:rPr lang="en-US" smtClean="0"/>
              <a:pPr/>
              <a:t>11</a:t>
            </a:fld>
            <a:endParaRPr lang="en-US" dirty="0"/>
          </a:p>
        </p:txBody>
      </p:sp>
      <p:sp>
        <p:nvSpPr>
          <p:cNvPr id="15" name="Title 14" hidden="1">
            <a:extLst>
              <a:ext uri="{FF2B5EF4-FFF2-40B4-BE49-F238E27FC236}">
                <a16:creationId xmlns:a16="http://schemas.microsoft.com/office/drawing/2014/main" id="{57449059-8E74-4D74-9455-28330314E8EC}"/>
              </a:ext>
            </a:extLst>
          </p:cNvPr>
          <p:cNvSpPr>
            <a:spLocks noGrp="1"/>
          </p:cNvSpPr>
          <p:nvPr>
            <p:ph type="title"/>
          </p:nvPr>
        </p:nvSpPr>
        <p:spPr/>
        <p:txBody>
          <a:bodyPr/>
          <a:lstStyle/>
          <a:p>
            <a:r>
              <a:rPr lang="en-US" dirty="0"/>
              <a:t>title</a:t>
            </a:r>
          </a:p>
        </p:txBody>
      </p:sp>
      <p:sp>
        <p:nvSpPr>
          <p:cNvPr id="3" name="TextBox 2">
            <a:extLst>
              <a:ext uri="{FF2B5EF4-FFF2-40B4-BE49-F238E27FC236}">
                <a16:creationId xmlns:a16="http://schemas.microsoft.com/office/drawing/2014/main" id="{B5856DAA-2649-E334-DF80-77299403C1A0}"/>
              </a:ext>
            </a:extLst>
          </p:cNvPr>
          <p:cNvSpPr txBox="1"/>
          <p:nvPr/>
        </p:nvSpPr>
        <p:spPr>
          <a:xfrm>
            <a:off x="9945065" y="6390156"/>
            <a:ext cx="1668951" cy="39438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r>
              <a:rPr lang="en-US" b="0" i="0" spc="140" baseline="0" dirty="0">
                <a:solidFill>
                  <a:schemeClr val="tx1">
                    <a:lumMod val="75000"/>
                    <a:lumOff val="25000"/>
                  </a:schemeClr>
                </a:solidFill>
                <a:latin typeface="+mj-lt"/>
              </a:rPr>
              <a:t>research</a:t>
            </a:r>
          </a:p>
        </p:txBody>
      </p:sp>
      <p:sp>
        <p:nvSpPr>
          <p:cNvPr id="11" name="Title 2">
            <a:extLst>
              <a:ext uri="{FF2B5EF4-FFF2-40B4-BE49-F238E27FC236}">
                <a16:creationId xmlns:a16="http://schemas.microsoft.com/office/drawing/2014/main" id="{67DA10CB-8790-08F4-6EA5-2C69367AE60B}"/>
              </a:ext>
            </a:extLst>
          </p:cNvPr>
          <p:cNvSpPr txBox="1">
            <a:spLocks/>
          </p:cNvSpPr>
          <p:nvPr/>
        </p:nvSpPr>
        <p:spPr>
          <a:xfrm>
            <a:off x="8683303" y="1161559"/>
            <a:ext cx="3508697" cy="802317"/>
          </a:xfrm>
          <a:prstGeom prst="rect">
            <a:avLst/>
          </a:prstGeom>
          <a:solidFill>
            <a:schemeClr val="bg2"/>
          </a:solidFill>
          <a:ln>
            <a:solidFill>
              <a:schemeClr val="tx1">
                <a:lumMod val="10000"/>
                <a:lumOff val="90000"/>
              </a:schemeClr>
            </a:solidFill>
          </a:ln>
        </p:spPr>
        <p:txBody>
          <a:bodyPr vert="horz" lIns="0" tIns="0" rIns="0" bIns="0" rtlCol="0" anchor="ctr">
            <a:noAutofit/>
          </a:bodyPr>
          <a:lst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a:lstStyle>
          <a:p>
            <a:r>
              <a:rPr lang="en-US" sz="4400" dirty="0"/>
              <a:t>CONCLUSION</a:t>
            </a:r>
          </a:p>
        </p:txBody>
      </p:sp>
      <p:pic>
        <p:nvPicPr>
          <p:cNvPr id="17" name="Picture 16">
            <a:extLst>
              <a:ext uri="{FF2B5EF4-FFF2-40B4-BE49-F238E27FC236}">
                <a16:creationId xmlns:a16="http://schemas.microsoft.com/office/drawing/2014/main" id="{0BCB9E7D-CB0B-7CE2-383A-37CAC2EFE74C}"/>
              </a:ext>
            </a:extLst>
          </p:cNvPr>
          <p:cNvPicPr>
            <a:picLocks noChangeAspect="1"/>
          </p:cNvPicPr>
          <p:nvPr/>
        </p:nvPicPr>
        <p:blipFill>
          <a:blip r:embed="rId2"/>
          <a:stretch>
            <a:fillRect/>
          </a:stretch>
        </p:blipFill>
        <p:spPr>
          <a:xfrm>
            <a:off x="9709885" y="3043958"/>
            <a:ext cx="2266115" cy="2266115"/>
          </a:xfrm>
          <a:prstGeom prst="rect">
            <a:avLst/>
          </a:prstGeom>
        </p:spPr>
      </p:pic>
      <p:sp>
        <p:nvSpPr>
          <p:cNvPr id="9" name="Rectangle 8">
            <a:extLst>
              <a:ext uri="{FF2B5EF4-FFF2-40B4-BE49-F238E27FC236}">
                <a16:creationId xmlns:a16="http://schemas.microsoft.com/office/drawing/2014/main" id="{E654F69D-472F-26CB-B8E4-A4A09FD9135B}"/>
              </a:ext>
              <a:ext uri="{C183D7F6-B498-43B3-948B-1728B52AA6E4}">
                <adec:decorative xmlns:adec="http://schemas.microsoft.com/office/drawing/2017/decorative" val="1"/>
              </a:ext>
            </a:extLst>
          </p:cNvPr>
          <p:cNvSpPr/>
          <p:nvPr/>
        </p:nvSpPr>
        <p:spPr>
          <a:xfrm>
            <a:off x="9011080" y="1046735"/>
            <a:ext cx="3180920"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extBox 1">
            <a:extLst>
              <a:ext uri="{FF2B5EF4-FFF2-40B4-BE49-F238E27FC236}">
                <a16:creationId xmlns:a16="http://schemas.microsoft.com/office/drawing/2014/main" id="{88B6C46A-9EFF-7231-8655-CAFF922ED671}"/>
              </a:ext>
            </a:extLst>
          </p:cNvPr>
          <p:cNvSpPr txBox="1"/>
          <p:nvPr/>
        </p:nvSpPr>
        <p:spPr>
          <a:xfrm>
            <a:off x="396875" y="1482253"/>
            <a:ext cx="7053189" cy="1015663"/>
          </a:xfrm>
          <a:prstGeom prst="rect">
            <a:avLst/>
          </a:prstGeom>
          <a:noFill/>
        </p:spPr>
        <p:txBody>
          <a:bodyPr wrap="square" rtlCol="0">
            <a:spAutoFit/>
          </a:bodyPr>
          <a:lstStyle/>
          <a:p>
            <a:pPr algn="l"/>
            <a:r>
              <a:rPr lang="en-US" sz="2000" b="1" dirty="0"/>
              <a:t>This analysis provides key insights to enhance the airline app, focusing on user behavior, marketing effectiveness, product performance, and business health.</a:t>
            </a:r>
          </a:p>
        </p:txBody>
      </p:sp>
      <p:sp>
        <p:nvSpPr>
          <p:cNvPr id="5" name="Content Placeholder 6">
            <a:extLst>
              <a:ext uri="{FF2B5EF4-FFF2-40B4-BE49-F238E27FC236}">
                <a16:creationId xmlns:a16="http://schemas.microsoft.com/office/drawing/2014/main" id="{607D8E65-193A-E6F7-3253-FADE2F227DA6}"/>
              </a:ext>
            </a:extLst>
          </p:cNvPr>
          <p:cNvSpPr>
            <a:spLocks noGrp="1"/>
          </p:cNvSpPr>
          <p:nvPr>
            <p:ph sz="half" idx="1"/>
          </p:nvPr>
        </p:nvSpPr>
        <p:spPr>
          <a:xfrm>
            <a:off x="0" y="854535"/>
            <a:ext cx="4646244" cy="499224"/>
          </a:xfrm>
        </p:spPr>
        <p:txBody>
          <a:bodyPr/>
          <a:lstStyle/>
          <a:p>
            <a:pPr algn="ctr"/>
            <a:r>
              <a:rPr lang="en-US" b="1" dirty="0"/>
              <a:t>Integrating Insights for App Development</a:t>
            </a:r>
          </a:p>
        </p:txBody>
      </p:sp>
      <p:sp>
        <p:nvSpPr>
          <p:cNvPr id="7" name="TextBox 6">
            <a:extLst>
              <a:ext uri="{FF2B5EF4-FFF2-40B4-BE49-F238E27FC236}">
                <a16:creationId xmlns:a16="http://schemas.microsoft.com/office/drawing/2014/main" id="{262CC30C-487C-B00D-F25B-C1CA08AA2FC3}"/>
              </a:ext>
            </a:extLst>
          </p:cNvPr>
          <p:cNvSpPr txBox="1"/>
          <p:nvPr/>
        </p:nvSpPr>
        <p:spPr>
          <a:xfrm>
            <a:off x="0" y="2626410"/>
            <a:ext cx="2526695" cy="3477875"/>
          </a:xfrm>
          <a:prstGeom prst="rect">
            <a:avLst/>
          </a:prstGeom>
          <a:noFill/>
        </p:spPr>
        <p:txBody>
          <a:bodyPr wrap="square" rtlCol="0">
            <a:spAutoFit/>
          </a:bodyPr>
          <a:lstStyle/>
          <a:p>
            <a:pPr marL="342900" indent="-342900" algn="l">
              <a:buFont typeface="Arial" panose="020B0604020202020204" pitchFamily="34" charset="0"/>
              <a:buChar char="•"/>
            </a:pPr>
            <a:r>
              <a:rPr lang="en-US" sz="2000" b="1" dirty="0">
                <a:solidFill>
                  <a:srgbClr val="FF0000"/>
                </a:solidFill>
              </a:rPr>
              <a:t>User Behavior: </a:t>
            </a:r>
            <a:r>
              <a:rPr lang="en-US" sz="2000" b="1" dirty="0"/>
              <a:t>Understanding age groups, destinations, and travel types allows for personalized experiences and features tailored to user preferences.</a:t>
            </a:r>
          </a:p>
        </p:txBody>
      </p:sp>
      <p:sp>
        <p:nvSpPr>
          <p:cNvPr id="10" name="TextBox 9">
            <a:extLst>
              <a:ext uri="{FF2B5EF4-FFF2-40B4-BE49-F238E27FC236}">
                <a16:creationId xmlns:a16="http://schemas.microsoft.com/office/drawing/2014/main" id="{0C9CA0D5-89C4-FFFE-6BA4-F7D11C507960}"/>
              </a:ext>
            </a:extLst>
          </p:cNvPr>
          <p:cNvSpPr txBox="1"/>
          <p:nvPr/>
        </p:nvSpPr>
        <p:spPr>
          <a:xfrm>
            <a:off x="2323122" y="2621147"/>
            <a:ext cx="2526695" cy="3477875"/>
          </a:xfrm>
          <a:prstGeom prst="rect">
            <a:avLst/>
          </a:prstGeom>
          <a:noFill/>
        </p:spPr>
        <p:txBody>
          <a:bodyPr wrap="square" rtlCol="0">
            <a:spAutoFit/>
          </a:bodyPr>
          <a:lstStyle/>
          <a:p>
            <a:pPr marL="342900" indent="-342900" algn="l">
              <a:buFont typeface="Arial" panose="020B0604020202020204" pitchFamily="34" charset="0"/>
              <a:buChar char="•"/>
            </a:pPr>
            <a:r>
              <a:rPr lang="en-US" sz="2000" b="1" dirty="0">
                <a:solidFill>
                  <a:srgbClr val="FF0000"/>
                </a:solidFill>
              </a:rPr>
              <a:t>Marketing Effectiveness: </a:t>
            </a:r>
            <a:r>
              <a:rPr lang="en-US" sz="2000" b="1" dirty="0"/>
              <a:t>Insights into popular destinations, peak seasons, and age/travel type preferences enable targeted promotions and timely messaging.</a:t>
            </a:r>
          </a:p>
        </p:txBody>
      </p:sp>
      <p:sp>
        <p:nvSpPr>
          <p:cNvPr id="13" name="TextBox 12">
            <a:extLst>
              <a:ext uri="{FF2B5EF4-FFF2-40B4-BE49-F238E27FC236}">
                <a16:creationId xmlns:a16="http://schemas.microsoft.com/office/drawing/2014/main" id="{B96CEC26-6B5F-351A-DE82-74EABA0EDFC3}"/>
              </a:ext>
            </a:extLst>
          </p:cNvPr>
          <p:cNvSpPr txBox="1"/>
          <p:nvPr/>
        </p:nvSpPr>
        <p:spPr>
          <a:xfrm>
            <a:off x="4646244" y="2621147"/>
            <a:ext cx="2526695" cy="3785652"/>
          </a:xfrm>
          <a:prstGeom prst="rect">
            <a:avLst/>
          </a:prstGeom>
          <a:noFill/>
        </p:spPr>
        <p:txBody>
          <a:bodyPr wrap="square" rtlCol="0">
            <a:spAutoFit/>
          </a:bodyPr>
          <a:lstStyle/>
          <a:p>
            <a:pPr marL="342900" indent="-342900" algn="l">
              <a:buFont typeface="Arial" panose="020B0604020202020204" pitchFamily="34" charset="0"/>
              <a:buChar char="•"/>
            </a:pPr>
            <a:r>
              <a:rPr lang="en-US" sz="2000" b="1" dirty="0">
                <a:solidFill>
                  <a:srgbClr val="FF0000"/>
                </a:solidFill>
              </a:rPr>
              <a:t>Product Performance: </a:t>
            </a:r>
            <a:r>
              <a:rPr lang="en-US" sz="2000" b="1" dirty="0"/>
              <a:t>Analyzing travel types and payment methods helps optimize booking flows and integrate preferred payment options for a smoother user experience.</a:t>
            </a:r>
          </a:p>
        </p:txBody>
      </p:sp>
      <p:sp>
        <p:nvSpPr>
          <p:cNvPr id="16" name="TextBox 15">
            <a:extLst>
              <a:ext uri="{FF2B5EF4-FFF2-40B4-BE49-F238E27FC236}">
                <a16:creationId xmlns:a16="http://schemas.microsoft.com/office/drawing/2014/main" id="{BC320336-31C9-5F72-AC3D-FE45905530B2}"/>
              </a:ext>
            </a:extLst>
          </p:cNvPr>
          <p:cNvSpPr txBox="1"/>
          <p:nvPr/>
        </p:nvSpPr>
        <p:spPr>
          <a:xfrm>
            <a:off x="7172939" y="2621147"/>
            <a:ext cx="2695939" cy="3785652"/>
          </a:xfrm>
          <a:prstGeom prst="rect">
            <a:avLst/>
          </a:prstGeom>
          <a:noFill/>
        </p:spPr>
        <p:txBody>
          <a:bodyPr wrap="square" rtlCol="0">
            <a:spAutoFit/>
          </a:bodyPr>
          <a:lstStyle/>
          <a:p>
            <a:pPr marL="342900" indent="-342900" algn="l">
              <a:buFont typeface="Arial" panose="020B0604020202020204" pitchFamily="34" charset="0"/>
              <a:buChar char="•"/>
            </a:pPr>
            <a:r>
              <a:rPr lang="en-US" sz="2000" b="1" dirty="0">
                <a:solidFill>
                  <a:srgbClr val="FF0000"/>
                </a:solidFill>
              </a:rPr>
              <a:t>Business Health:</a:t>
            </a:r>
            <a:r>
              <a:rPr lang="en-US" sz="2000" b="1" dirty="0"/>
              <a:t> By improving user engagement, marketing efficiency, and operational performance, the app contributes to increased bookings, revenue, and overall business growth.</a:t>
            </a:r>
          </a:p>
        </p:txBody>
      </p:sp>
      <p:pic>
        <p:nvPicPr>
          <p:cNvPr id="19" name="Picture 18">
            <a:extLst>
              <a:ext uri="{FF2B5EF4-FFF2-40B4-BE49-F238E27FC236}">
                <a16:creationId xmlns:a16="http://schemas.microsoft.com/office/drawing/2014/main" id="{79696C46-905D-1F51-BDDF-B3987C419497}"/>
              </a:ext>
            </a:extLst>
          </p:cNvPr>
          <p:cNvPicPr>
            <a:picLocks noChangeAspect="1"/>
          </p:cNvPicPr>
          <p:nvPr/>
        </p:nvPicPr>
        <p:blipFill>
          <a:blip r:embed="rId3"/>
          <a:stretch>
            <a:fillRect/>
          </a:stretch>
        </p:blipFill>
        <p:spPr>
          <a:xfrm>
            <a:off x="10486962" y="5659392"/>
            <a:ext cx="711959" cy="711959"/>
          </a:xfrm>
          <a:prstGeom prst="rect">
            <a:avLst/>
          </a:prstGeom>
        </p:spPr>
      </p:pic>
    </p:spTree>
    <p:extLst>
      <p:ext uri="{BB962C8B-B14F-4D97-AF65-F5344CB8AC3E}">
        <p14:creationId xmlns:p14="http://schemas.microsoft.com/office/powerpoint/2010/main" val="3293950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0202D98-AA1E-41BB-B94E-180311759C13}"/>
              </a:ext>
            </a:extLst>
          </p:cNvPr>
          <p:cNvSpPr>
            <a:spLocks noGrp="1"/>
          </p:cNvSpPr>
          <p:nvPr>
            <p:ph type="sldNum" sz="quarter" idx="15"/>
          </p:nvPr>
        </p:nvSpPr>
        <p:spPr/>
        <p:txBody>
          <a:bodyPr/>
          <a:lstStyle/>
          <a:p>
            <a:fld id="{19B51A1E-902D-48AF-9020-955120F399B6}" type="slidenum">
              <a:rPr lang="en-US" smtClean="0"/>
              <a:pPr/>
              <a:t>12</a:t>
            </a:fld>
            <a:endParaRPr lang="en-US" dirty="0"/>
          </a:p>
        </p:txBody>
      </p:sp>
      <p:sp>
        <p:nvSpPr>
          <p:cNvPr id="15" name="Title 14" hidden="1">
            <a:extLst>
              <a:ext uri="{FF2B5EF4-FFF2-40B4-BE49-F238E27FC236}">
                <a16:creationId xmlns:a16="http://schemas.microsoft.com/office/drawing/2014/main" id="{57449059-8E74-4D74-9455-28330314E8EC}"/>
              </a:ext>
            </a:extLst>
          </p:cNvPr>
          <p:cNvSpPr>
            <a:spLocks noGrp="1"/>
          </p:cNvSpPr>
          <p:nvPr>
            <p:ph type="title"/>
          </p:nvPr>
        </p:nvSpPr>
        <p:spPr/>
        <p:txBody>
          <a:bodyPr/>
          <a:lstStyle/>
          <a:p>
            <a:r>
              <a:rPr lang="en-US" dirty="0"/>
              <a:t>title</a:t>
            </a:r>
          </a:p>
        </p:txBody>
      </p:sp>
      <p:sp>
        <p:nvSpPr>
          <p:cNvPr id="3" name="TextBox 2">
            <a:extLst>
              <a:ext uri="{FF2B5EF4-FFF2-40B4-BE49-F238E27FC236}">
                <a16:creationId xmlns:a16="http://schemas.microsoft.com/office/drawing/2014/main" id="{B5856DAA-2649-E334-DF80-77299403C1A0}"/>
              </a:ext>
            </a:extLst>
          </p:cNvPr>
          <p:cNvSpPr txBox="1"/>
          <p:nvPr/>
        </p:nvSpPr>
        <p:spPr>
          <a:xfrm>
            <a:off x="9945065" y="6390156"/>
            <a:ext cx="1668951" cy="39438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r>
              <a:rPr lang="en-US" b="0" i="0" spc="140" baseline="0" dirty="0">
                <a:solidFill>
                  <a:schemeClr val="tx1">
                    <a:lumMod val="75000"/>
                    <a:lumOff val="25000"/>
                  </a:schemeClr>
                </a:solidFill>
                <a:latin typeface="+mj-lt"/>
              </a:rPr>
              <a:t>research</a:t>
            </a:r>
          </a:p>
        </p:txBody>
      </p:sp>
      <p:sp>
        <p:nvSpPr>
          <p:cNvPr id="11" name="Title 2">
            <a:extLst>
              <a:ext uri="{FF2B5EF4-FFF2-40B4-BE49-F238E27FC236}">
                <a16:creationId xmlns:a16="http://schemas.microsoft.com/office/drawing/2014/main" id="{67DA10CB-8790-08F4-6EA5-2C69367AE60B}"/>
              </a:ext>
            </a:extLst>
          </p:cNvPr>
          <p:cNvSpPr txBox="1">
            <a:spLocks/>
          </p:cNvSpPr>
          <p:nvPr/>
        </p:nvSpPr>
        <p:spPr>
          <a:xfrm>
            <a:off x="8683303" y="1161559"/>
            <a:ext cx="3508697" cy="802317"/>
          </a:xfrm>
          <a:prstGeom prst="rect">
            <a:avLst/>
          </a:prstGeom>
          <a:solidFill>
            <a:schemeClr val="bg2"/>
          </a:solidFill>
          <a:ln>
            <a:solidFill>
              <a:schemeClr val="tx1">
                <a:lumMod val="10000"/>
                <a:lumOff val="90000"/>
              </a:schemeClr>
            </a:solidFill>
          </a:ln>
        </p:spPr>
        <p:txBody>
          <a:bodyPr vert="horz" lIns="0" tIns="0" rIns="0" bIns="0" rtlCol="0" anchor="ctr">
            <a:noAutofit/>
          </a:bodyPr>
          <a:lst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a:lstStyle>
          <a:p>
            <a:r>
              <a:rPr lang="en-US" sz="4400" dirty="0"/>
              <a:t>CONCLUSION</a:t>
            </a:r>
          </a:p>
        </p:txBody>
      </p:sp>
      <p:pic>
        <p:nvPicPr>
          <p:cNvPr id="17" name="Picture 16">
            <a:extLst>
              <a:ext uri="{FF2B5EF4-FFF2-40B4-BE49-F238E27FC236}">
                <a16:creationId xmlns:a16="http://schemas.microsoft.com/office/drawing/2014/main" id="{0BCB9E7D-CB0B-7CE2-383A-37CAC2EFE74C}"/>
              </a:ext>
            </a:extLst>
          </p:cNvPr>
          <p:cNvPicPr>
            <a:picLocks noChangeAspect="1"/>
          </p:cNvPicPr>
          <p:nvPr/>
        </p:nvPicPr>
        <p:blipFill>
          <a:blip r:embed="rId2"/>
          <a:stretch>
            <a:fillRect/>
          </a:stretch>
        </p:blipFill>
        <p:spPr>
          <a:xfrm>
            <a:off x="597019" y="3889688"/>
            <a:ext cx="2266115" cy="2266115"/>
          </a:xfrm>
          <a:prstGeom prst="rect">
            <a:avLst/>
          </a:prstGeom>
        </p:spPr>
      </p:pic>
      <p:sp>
        <p:nvSpPr>
          <p:cNvPr id="9" name="Rectangle 8">
            <a:extLst>
              <a:ext uri="{FF2B5EF4-FFF2-40B4-BE49-F238E27FC236}">
                <a16:creationId xmlns:a16="http://schemas.microsoft.com/office/drawing/2014/main" id="{E654F69D-472F-26CB-B8E4-A4A09FD9135B}"/>
              </a:ext>
              <a:ext uri="{C183D7F6-B498-43B3-948B-1728B52AA6E4}">
                <adec:decorative xmlns:adec="http://schemas.microsoft.com/office/drawing/2017/decorative" val="1"/>
              </a:ext>
            </a:extLst>
          </p:cNvPr>
          <p:cNvSpPr/>
          <p:nvPr/>
        </p:nvSpPr>
        <p:spPr>
          <a:xfrm>
            <a:off x="9011080" y="1046735"/>
            <a:ext cx="3180920"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extBox 1">
            <a:extLst>
              <a:ext uri="{FF2B5EF4-FFF2-40B4-BE49-F238E27FC236}">
                <a16:creationId xmlns:a16="http://schemas.microsoft.com/office/drawing/2014/main" id="{88B6C46A-9EFF-7231-8655-CAFF922ED671}"/>
              </a:ext>
            </a:extLst>
          </p:cNvPr>
          <p:cNvSpPr txBox="1"/>
          <p:nvPr/>
        </p:nvSpPr>
        <p:spPr>
          <a:xfrm>
            <a:off x="2569405" y="2274838"/>
            <a:ext cx="7053189" cy="2308324"/>
          </a:xfrm>
          <a:prstGeom prst="rect">
            <a:avLst/>
          </a:prstGeom>
          <a:noFill/>
        </p:spPr>
        <p:txBody>
          <a:bodyPr wrap="square" rtlCol="0">
            <a:spAutoFit/>
          </a:bodyPr>
          <a:lstStyle/>
          <a:p>
            <a:pPr algn="ctr"/>
            <a:r>
              <a:rPr lang="en-US" sz="3600" b="1" dirty="0">
                <a:solidFill>
                  <a:srgbClr val="FF0000"/>
                </a:solidFill>
              </a:rPr>
              <a:t>Integrating these findings is essential for creating a user-centric, effective, and successful airline application.</a:t>
            </a:r>
          </a:p>
        </p:txBody>
      </p:sp>
      <p:sp>
        <p:nvSpPr>
          <p:cNvPr id="5" name="Content Placeholder 6">
            <a:extLst>
              <a:ext uri="{FF2B5EF4-FFF2-40B4-BE49-F238E27FC236}">
                <a16:creationId xmlns:a16="http://schemas.microsoft.com/office/drawing/2014/main" id="{607D8E65-193A-E6F7-3253-FADE2F227DA6}"/>
              </a:ext>
            </a:extLst>
          </p:cNvPr>
          <p:cNvSpPr>
            <a:spLocks noGrp="1"/>
          </p:cNvSpPr>
          <p:nvPr>
            <p:ph sz="half" idx="1"/>
          </p:nvPr>
        </p:nvSpPr>
        <p:spPr>
          <a:xfrm>
            <a:off x="0" y="911947"/>
            <a:ext cx="4646244" cy="499224"/>
          </a:xfrm>
        </p:spPr>
        <p:txBody>
          <a:bodyPr/>
          <a:lstStyle/>
          <a:p>
            <a:pPr algn="ctr"/>
            <a:r>
              <a:rPr lang="en-US" b="1" dirty="0"/>
              <a:t>Integrating Insights for App Development</a:t>
            </a:r>
          </a:p>
        </p:txBody>
      </p:sp>
      <p:pic>
        <p:nvPicPr>
          <p:cNvPr id="8" name="Picture 7">
            <a:extLst>
              <a:ext uri="{FF2B5EF4-FFF2-40B4-BE49-F238E27FC236}">
                <a16:creationId xmlns:a16="http://schemas.microsoft.com/office/drawing/2014/main" id="{D6016358-DAD5-1F9A-7799-76735E2AE009}"/>
              </a:ext>
            </a:extLst>
          </p:cNvPr>
          <p:cNvPicPr>
            <a:picLocks noChangeAspect="1"/>
          </p:cNvPicPr>
          <p:nvPr/>
        </p:nvPicPr>
        <p:blipFill>
          <a:blip r:embed="rId3"/>
          <a:stretch>
            <a:fillRect/>
          </a:stretch>
        </p:blipFill>
        <p:spPr>
          <a:xfrm>
            <a:off x="10185160" y="5182592"/>
            <a:ext cx="1188759" cy="1188759"/>
          </a:xfrm>
          <a:prstGeom prst="rect">
            <a:avLst/>
          </a:prstGeom>
        </p:spPr>
      </p:pic>
    </p:spTree>
    <p:extLst>
      <p:ext uri="{BB962C8B-B14F-4D97-AF65-F5344CB8AC3E}">
        <p14:creationId xmlns:p14="http://schemas.microsoft.com/office/powerpoint/2010/main" val="486454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Placeholder 31">
            <a:extLst>
              <a:ext uri="{FF2B5EF4-FFF2-40B4-BE49-F238E27FC236}">
                <a16:creationId xmlns:a16="http://schemas.microsoft.com/office/drawing/2014/main" id="{AAB6EE12-FEF8-FB41-A909-0DA61D7725C7}"/>
              </a:ext>
            </a:extLst>
          </p:cNvPr>
          <p:cNvPicPr>
            <a:picLocks noGrp="1" noChangeAspect="1"/>
          </p:cNvPicPr>
          <p:nvPr>
            <p:ph type="pic" sz="quarter" idx="10"/>
          </p:nvPr>
        </p:nvPicPr>
        <p:blipFill>
          <a:blip r:embed="rId2"/>
          <a:srcRect/>
          <a:stretch/>
        </p:blipFill>
        <p:spPr>
          <a:xfrm>
            <a:off x="1" y="26988"/>
            <a:ext cx="6358648" cy="6358648"/>
          </a:xfrm>
        </p:spPr>
      </p:pic>
      <p:sp>
        <p:nvSpPr>
          <p:cNvPr id="14" name="Title 13">
            <a:extLst>
              <a:ext uri="{FF2B5EF4-FFF2-40B4-BE49-F238E27FC236}">
                <a16:creationId xmlns:a16="http://schemas.microsoft.com/office/drawing/2014/main" id="{6C38D7A9-9299-4108-BB08-026F4B9CAE7B}"/>
              </a:ext>
            </a:extLst>
          </p:cNvPr>
          <p:cNvSpPr>
            <a:spLocks noGrp="1"/>
          </p:cNvSpPr>
          <p:nvPr>
            <p:ph type="ctrTitle"/>
          </p:nvPr>
        </p:nvSpPr>
        <p:spPr>
          <a:xfrm>
            <a:off x="5975453" y="1856530"/>
            <a:ext cx="6216548" cy="824061"/>
          </a:xfrm>
        </p:spPr>
        <p:txBody>
          <a:bodyPr anchor="ctr"/>
          <a:lstStyle/>
          <a:p>
            <a:pPr algn="ctr"/>
            <a:r>
              <a:rPr lang="en-US" sz="4800" dirty="0"/>
              <a:t>Thank  You</a:t>
            </a:r>
          </a:p>
        </p:txBody>
      </p:sp>
      <p:sp>
        <p:nvSpPr>
          <p:cNvPr id="4" name="Text Placeholder 3">
            <a:extLst>
              <a:ext uri="{FF2B5EF4-FFF2-40B4-BE49-F238E27FC236}">
                <a16:creationId xmlns:a16="http://schemas.microsoft.com/office/drawing/2014/main" id="{60828E04-9C2A-4859-8050-C2DF67A249CB}"/>
              </a:ext>
            </a:extLst>
          </p:cNvPr>
          <p:cNvSpPr>
            <a:spLocks noGrp="1"/>
          </p:cNvSpPr>
          <p:nvPr>
            <p:ph type="body" sz="quarter" idx="15"/>
          </p:nvPr>
        </p:nvSpPr>
        <p:spPr>
          <a:xfrm>
            <a:off x="8891627" y="2808104"/>
            <a:ext cx="2910343" cy="422257"/>
          </a:xfrm>
          <a:solidFill>
            <a:schemeClr val="tx1">
              <a:lumMod val="75000"/>
              <a:lumOff val="25000"/>
            </a:schemeClr>
          </a:solidFill>
        </p:spPr>
        <p:txBody>
          <a:bodyPr/>
          <a:lstStyle/>
          <a:p>
            <a:r>
              <a:rPr lang="en-US" dirty="0"/>
              <a:t>Data Analytics Team</a:t>
            </a:r>
          </a:p>
        </p:txBody>
      </p:sp>
      <p:pic>
        <p:nvPicPr>
          <p:cNvPr id="8" name="Graphic 7" descr="User" title="Icon - Presenter Name">
            <a:extLst>
              <a:ext uri="{FF2B5EF4-FFF2-40B4-BE49-F238E27FC236}">
                <a16:creationId xmlns:a16="http://schemas.microsoft.com/office/drawing/2014/main" id="{111541C4-DB03-4E53-994D-499C7D73C4DF}"/>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866550" y="2857099"/>
            <a:ext cx="218900" cy="218900"/>
          </a:xfrm>
          <a:prstGeom prst="rect">
            <a:avLst/>
          </a:prstGeom>
        </p:spPr>
      </p:pic>
      <p:sp>
        <p:nvSpPr>
          <p:cNvPr id="5" name="Text Placeholder 4">
            <a:extLst>
              <a:ext uri="{FF2B5EF4-FFF2-40B4-BE49-F238E27FC236}">
                <a16:creationId xmlns:a16="http://schemas.microsoft.com/office/drawing/2014/main" id="{11265965-2271-4C1C-BD0A-6F85F80FF9A6}"/>
              </a:ext>
            </a:extLst>
          </p:cNvPr>
          <p:cNvSpPr>
            <a:spLocks noGrp="1"/>
          </p:cNvSpPr>
          <p:nvPr>
            <p:ph type="body" sz="quarter" idx="16"/>
          </p:nvPr>
        </p:nvSpPr>
        <p:spPr>
          <a:xfrm>
            <a:off x="8891628" y="3255035"/>
            <a:ext cx="2910343" cy="1943681"/>
          </a:xfrm>
          <a:solidFill>
            <a:schemeClr val="tx1">
              <a:lumMod val="75000"/>
              <a:lumOff val="25000"/>
            </a:schemeClr>
          </a:solidFill>
        </p:spPr>
        <p:txBody>
          <a:bodyPr/>
          <a:lstStyle/>
          <a:p>
            <a:r>
              <a:rPr lang="en-US" dirty="0"/>
              <a:t>+234 806 015 6385</a:t>
            </a:r>
          </a:p>
          <a:p>
            <a:r>
              <a:rPr lang="en-US" dirty="0"/>
              <a:t>+23470 8039 3332</a:t>
            </a:r>
          </a:p>
          <a:p>
            <a:r>
              <a:rPr lang="en-US" dirty="0"/>
              <a:t>+234 812 659 6588</a:t>
            </a:r>
          </a:p>
          <a:p>
            <a:r>
              <a:rPr lang="en-US" dirty="0"/>
              <a:t>+234 808 392 6967 </a:t>
            </a:r>
          </a:p>
          <a:p>
            <a:r>
              <a:rPr lang="en-US" dirty="0"/>
              <a:t>+234 905 468 3321</a:t>
            </a:r>
          </a:p>
        </p:txBody>
      </p:sp>
      <p:pic>
        <p:nvPicPr>
          <p:cNvPr id="10" name="Graphic 9" descr="Smart Phone" title="Icon - Presenter Phone Number">
            <a:extLst>
              <a:ext uri="{FF2B5EF4-FFF2-40B4-BE49-F238E27FC236}">
                <a16:creationId xmlns:a16="http://schemas.microsoft.com/office/drawing/2014/main" id="{A29DE31C-E099-4579-BB03-675E0A40C5F2}"/>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866550" y="4027573"/>
            <a:ext cx="218900" cy="218900"/>
          </a:xfrm>
          <a:prstGeom prst="rect">
            <a:avLst/>
          </a:prstGeom>
        </p:spPr>
      </p:pic>
      <p:sp>
        <p:nvSpPr>
          <p:cNvPr id="6" name="Text Placeholder 5">
            <a:extLst>
              <a:ext uri="{FF2B5EF4-FFF2-40B4-BE49-F238E27FC236}">
                <a16:creationId xmlns:a16="http://schemas.microsoft.com/office/drawing/2014/main" id="{50A3BCC3-A277-4C0B-9EBA-EB53990D8EBD}"/>
              </a:ext>
            </a:extLst>
          </p:cNvPr>
          <p:cNvSpPr>
            <a:spLocks noGrp="1"/>
          </p:cNvSpPr>
          <p:nvPr>
            <p:ph type="body" sz="quarter" idx="17"/>
          </p:nvPr>
        </p:nvSpPr>
        <p:spPr>
          <a:xfrm>
            <a:off x="7011278" y="5564863"/>
            <a:ext cx="4790692" cy="596199"/>
          </a:xfrm>
          <a:solidFill>
            <a:schemeClr val="tx1">
              <a:lumMod val="75000"/>
              <a:lumOff val="25000"/>
            </a:schemeClr>
          </a:solidFill>
        </p:spPr>
        <p:txBody>
          <a:bodyPr/>
          <a:lstStyle/>
          <a:p>
            <a:r>
              <a:rPr lang="en-US" dirty="0"/>
              <a:t>https://drive.google.com/drive/folders/1pjL5TjitU1kiAk3TuDryWRJmEm4mCWdk?usp=sharing</a:t>
            </a:r>
          </a:p>
        </p:txBody>
      </p:sp>
      <p:pic>
        <p:nvPicPr>
          <p:cNvPr id="9" name="Graphic 8" descr="Envelope" title="Icon Presenter Email">
            <a:extLst>
              <a:ext uri="{FF2B5EF4-FFF2-40B4-BE49-F238E27FC236}">
                <a16:creationId xmlns:a16="http://schemas.microsoft.com/office/drawing/2014/main" id="{773C1382-ACE1-460F-A1B6-AB761A7D2E6B}"/>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1866550" y="5609949"/>
            <a:ext cx="218900" cy="218900"/>
          </a:xfrm>
          <a:prstGeom prst="rect">
            <a:avLst/>
          </a:prstGeom>
        </p:spPr>
      </p:pic>
      <p:sp>
        <p:nvSpPr>
          <p:cNvPr id="16" name="Text Placeholder 15">
            <a:extLst>
              <a:ext uri="{FF2B5EF4-FFF2-40B4-BE49-F238E27FC236}">
                <a16:creationId xmlns:a16="http://schemas.microsoft.com/office/drawing/2014/main" id="{FD8A1232-50A8-4535-AAF9-7F4180EAA0DD}"/>
              </a:ext>
            </a:extLst>
          </p:cNvPr>
          <p:cNvSpPr>
            <a:spLocks noGrp="1"/>
          </p:cNvSpPr>
          <p:nvPr>
            <p:ph type="body" sz="quarter" idx="18"/>
          </p:nvPr>
        </p:nvSpPr>
        <p:spPr>
          <a:xfrm>
            <a:off x="8891628" y="5223390"/>
            <a:ext cx="2910343" cy="316800"/>
          </a:xfrm>
          <a:solidFill>
            <a:schemeClr val="tx1">
              <a:lumMod val="75000"/>
              <a:lumOff val="25000"/>
            </a:schemeClr>
          </a:solidFill>
        </p:spPr>
        <p:txBody>
          <a:bodyPr/>
          <a:lstStyle/>
          <a:p>
            <a:r>
              <a:rPr lang="en-US" dirty="0"/>
              <a:t>Codeville Research</a:t>
            </a:r>
          </a:p>
        </p:txBody>
      </p:sp>
      <p:pic>
        <p:nvPicPr>
          <p:cNvPr id="11" name="Graphic 10" descr="Link">
            <a:extLst>
              <a:ext uri="{FF2B5EF4-FFF2-40B4-BE49-F238E27FC236}">
                <a16:creationId xmlns:a16="http://schemas.microsoft.com/office/drawing/2014/main" id="{0718E6E0-05A2-479C-AEA8-1A385EB73474}"/>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866550" y="5295404"/>
            <a:ext cx="244786" cy="244786"/>
          </a:xfrm>
          <a:prstGeom prst="rect">
            <a:avLst/>
          </a:prstGeom>
        </p:spPr>
      </p:pic>
      <p:sp>
        <p:nvSpPr>
          <p:cNvPr id="12" name="Slide Number Placeholder 11">
            <a:extLst>
              <a:ext uri="{FF2B5EF4-FFF2-40B4-BE49-F238E27FC236}">
                <a16:creationId xmlns:a16="http://schemas.microsoft.com/office/drawing/2014/main" id="{91814EC9-246A-4C6E-941E-5774FE72F08E}"/>
              </a:ext>
            </a:extLst>
          </p:cNvPr>
          <p:cNvSpPr>
            <a:spLocks noGrp="1"/>
          </p:cNvSpPr>
          <p:nvPr>
            <p:ph type="sldNum" sz="quarter" idx="20"/>
          </p:nvPr>
        </p:nvSpPr>
        <p:spPr>
          <a:solidFill>
            <a:schemeClr val="tx1">
              <a:lumMod val="95000"/>
              <a:lumOff val="5000"/>
            </a:schemeClr>
          </a:solidFill>
        </p:spPr>
        <p:txBody>
          <a:bodyPr/>
          <a:lstStyle/>
          <a:p>
            <a:fld id="{19B51A1E-902D-48AF-9020-955120F399B6}" type="slidenum">
              <a:rPr lang="en-US" smtClean="0"/>
              <a:pPr/>
              <a:t>13</a:t>
            </a:fld>
            <a:endParaRPr lang="en-US" dirty="0"/>
          </a:p>
        </p:txBody>
      </p:sp>
      <p:sp>
        <p:nvSpPr>
          <p:cNvPr id="3" name="TextBox 2">
            <a:extLst>
              <a:ext uri="{FF2B5EF4-FFF2-40B4-BE49-F238E27FC236}">
                <a16:creationId xmlns:a16="http://schemas.microsoft.com/office/drawing/2014/main" id="{A77E8EE0-A300-8BCC-2023-FAE10A16B6B9}"/>
              </a:ext>
            </a:extLst>
          </p:cNvPr>
          <p:cNvSpPr txBox="1"/>
          <p:nvPr/>
        </p:nvSpPr>
        <p:spPr>
          <a:xfrm>
            <a:off x="9945065" y="6390156"/>
            <a:ext cx="1668951" cy="394389"/>
          </a:xfrm>
          <a:prstGeom prst="rect">
            <a:avLst/>
          </a:prstGeom>
          <a:noFill/>
        </p:spPr>
        <p:txBody>
          <a:bodyPr wrap="square" tIns="108000" bIns="0" rtlCol="0" anchor="ctr">
            <a:spAutoFit/>
          </a:bodyPr>
          <a:lstStyle/>
          <a:p>
            <a:pPr algn="ctr">
              <a:lnSpc>
                <a:spcPts val="1000"/>
              </a:lnSpc>
            </a:pPr>
            <a:r>
              <a:rPr lang="en-US" sz="2000" b="1" spc="-100" dirty="0">
                <a:solidFill>
                  <a:srgbClr val="FF0000"/>
                </a:solidFill>
                <a:latin typeface="+mj-lt"/>
              </a:rPr>
              <a:t>CODEVILLE</a:t>
            </a:r>
            <a:br>
              <a:rPr lang="en-US" sz="2400" b="1" i="0" spc="-100" baseline="0" dirty="0">
                <a:solidFill>
                  <a:schemeClr val="tx1">
                    <a:lumMod val="75000"/>
                    <a:lumOff val="25000"/>
                  </a:schemeClr>
                </a:solidFill>
                <a:latin typeface="+mj-lt"/>
              </a:rPr>
            </a:br>
            <a:r>
              <a:rPr lang="en-US" b="0" i="0" spc="140" baseline="0" dirty="0">
                <a:solidFill>
                  <a:schemeClr val="tx1">
                    <a:lumMod val="75000"/>
                    <a:lumOff val="25000"/>
                  </a:schemeClr>
                </a:solidFill>
                <a:latin typeface="+mj-lt"/>
              </a:rPr>
              <a:t>research</a:t>
            </a:r>
          </a:p>
        </p:txBody>
      </p:sp>
      <p:pic>
        <p:nvPicPr>
          <p:cNvPr id="15" name="Picture 14">
            <a:extLst>
              <a:ext uri="{FF2B5EF4-FFF2-40B4-BE49-F238E27FC236}">
                <a16:creationId xmlns:a16="http://schemas.microsoft.com/office/drawing/2014/main" id="{3408AD58-FD92-0797-AAE4-F3C3B9C82285}"/>
              </a:ext>
            </a:extLst>
          </p:cNvPr>
          <p:cNvPicPr>
            <a:picLocks noChangeAspect="1"/>
          </p:cNvPicPr>
          <p:nvPr/>
        </p:nvPicPr>
        <p:blipFill>
          <a:blip r:embed="rId11"/>
          <a:stretch>
            <a:fillRect/>
          </a:stretch>
        </p:blipFill>
        <p:spPr>
          <a:xfrm>
            <a:off x="0" y="5182592"/>
            <a:ext cx="1188759" cy="1188759"/>
          </a:xfrm>
          <a:prstGeom prst="rect">
            <a:avLst/>
          </a:prstGeom>
        </p:spPr>
      </p:pic>
    </p:spTree>
    <p:extLst>
      <p:ext uri="{BB962C8B-B14F-4D97-AF65-F5344CB8AC3E}">
        <p14:creationId xmlns:p14="http://schemas.microsoft.com/office/powerpoint/2010/main" val="4153678306"/>
      </p:ext>
    </p:extLst>
  </p:cSld>
  <p:clrMapOvr>
    <a:masterClrMapping/>
  </p:clrMapOvr>
</p:sld>
</file>

<file path=ppt/theme/theme1.xml><?xml version="1.0" encoding="utf-8"?>
<a:theme xmlns:a="http://schemas.openxmlformats.org/drawingml/2006/main" name="Office Theme">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9">
      <a:majorFont>
        <a:latin typeface="Corbel"/>
        <a:ea typeface=""/>
        <a:cs typeface=""/>
      </a:majorFont>
      <a:minorFont>
        <a:latin typeface="Candar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6411250_Bright business presentation_AAS_v3" id="{57D58BC9-3F05-45D4-81CD-7BA898B4CAAD}" vid="{0F92AA19-00D6-4C71-B13F-219D7994A0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00F07EC-B350-49E7-B6F3-FED47ED1C917}">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s>
</ds:datastoreItem>
</file>

<file path=customXml/itemProps2.xml><?xml version="1.0" encoding="utf-8"?>
<ds:datastoreItem xmlns:ds="http://schemas.openxmlformats.org/officeDocument/2006/customXml" ds:itemID="{C389EDE6-EADC-4C51-A618-17CCFAE3C12F}">
  <ds:schemaRefs>
    <ds:schemaRef ds:uri="http://schemas.microsoft.com/office/2006/metadata/properties"/>
    <ds:schemaRef ds:uri="http://www.w3.org/2000/xmlns/"/>
    <ds:schemaRef ds:uri="71af3243-3dd4-4a8d-8c0d-dd76da1f02a5"/>
    <ds:schemaRef ds:uri="http://www.w3.org/2001/XMLSchema-instance"/>
  </ds:schemaRefs>
</ds:datastoreItem>
</file>

<file path=customXml/itemProps3.xml><?xml version="1.0" encoding="utf-8"?>
<ds:datastoreItem xmlns:ds="http://schemas.openxmlformats.org/officeDocument/2006/customXml" ds:itemID="{2AF4CCF4-D450-4896-9D26-824C258C6A9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TF16411250</Template>
  <TotalTime>0</TotalTime>
  <Words>380</Words>
  <Application>Microsoft Office PowerPoint</Application>
  <PresentationFormat>Widescreen</PresentationFormat>
  <Paragraphs>95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Project  Aerivia</vt:lpstr>
      <vt:lpstr>About </vt:lpstr>
      <vt:lpstr>Section  One  </vt:lpstr>
      <vt:lpstr>Insights </vt:lpstr>
      <vt:lpstr>Insights </vt:lpstr>
      <vt:lpstr>Insights </vt:lpstr>
      <vt:lpstr>Section Two</vt:lpstr>
      <vt:lpstr>title</vt:lpstr>
      <vt:lpstr>title</vt:lpstr>
      <vt:lpstr>title</vt:lpstr>
      <vt:lpstr>title</vt:lpstr>
      <vt:lpstr>title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Aerivia</dc:title>
  <dc:creator>Ben ✌🏽</dc:creator>
  <cp:lastModifiedBy>Ben ✌🏽</cp:lastModifiedBy>
  <cp:revision>8</cp:revision>
  <dcterms:created xsi:type="dcterms:W3CDTF">2025-08-03T13:14:11Z</dcterms:created>
  <dcterms:modified xsi:type="dcterms:W3CDTF">2025-08-03T18:24:45Z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